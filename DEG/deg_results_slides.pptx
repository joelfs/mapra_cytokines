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What is Differential Gene Expression (DEG)?</a:t>
            </a:r>
          </a:p>
        </p:txBody>
      </p:sp>
      <p:sp>
        <p:nvSpPr>
          <p:cNvPr id="3" name="TextBox 2"/>
          <p:cNvSpPr txBox="1"/>
          <p:nvPr/>
        </p:nvSpPr>
        <p:spPr>
          <a:xfrm>
            <a:off x="548640" y="1463040"/>
            <a:ext cx="11064240" cy="4572000"/>
          </a:xfrm>
          <a:prstGeom prst="rect">
            <a:avLst/>
          </a:prstGeom>
          <a:noFill/>
        </p:spPr>
        <p:txBody>
          <a:bodyPr wrap="square">
            <a:spAutoFit/>
          </a:bodyPr>
          <a:lstStyle/>
          <a:p>
            <a:pPr>
              <a:spcAft>
                <a:spcPts val="1800"/>
              </a:spcAft>
            </a:pPr>
            <a:r>
              <a:rPr b="1" sz="1800">
                <a:solidFill>
                  <a:srgbClr val="D62728"/>
                </a:solidFill>
              </a:rPr>
              <a:t>●  The question: </a:t>
            </a:r>
            <a:r>
              <a:rPr sz="1800">
                <a:solidFill>
                  <a:srgbClr val="1A1A1A"/>
                </a:solidFill>
              </a:rPr>
              <a:t>for a given gene, is its activity (expression) statistically different between two groups of patients?</a:t>
            </a:r>
          </a:p>
          <a:p>
            <a:pPr>
              <a:spcAft>
                <a:spcPts val="1800"/>
              </a:spcAft>
            </a:pPr>
            <a:r>
              <a:rPr b="1" sz="1800">
                <a:solidFill>
                  <a:srgbClr val="D62728"/>
                </a:solidFill>
              </a:rPr>
              <a:t>●  Why we care: </a:t>
            </a:r>
            <a:r>
              <a:rPr sz="1800">
                <a:solidFill>
                  <a:srgbClr val="1A1A1A"/>
                </a:solidFill>
              </a:rPr>
              <a:t>genes that differ between ACS (acute heart attack) and CCS (stable coronary disease) patients point to which immune processes distinguish an acute event from stable disease.</a:t>
            </a:r>
          </a:p>
          <a:p>
            <a:pPr>
              <a:spcAft>
                <a:spcPts val="1800"/>
              </a:spcAft>
            </a:pPr>
            <a:r>
              <a:rPr b="1" sz="1800">
                <a:solidFill>
                  <a:srgbClr val="D62728"/>
                </a:solidFill>
              </a:rPr>
              <a:t>●  Output: </a:t>
            </a:r>
            <a:r>
              <a:rPr sz="1800">
                <a:solidFill>
                  <a:srgbClr val="1A1A1A"/>
                </a:solidFill>
              </a:rPr>
              <a:t>for every gene, a fold-change (how much higher/lower) and a p-value (how confident we are it's real, corrected for testing thousands of genes at once).</a:t>
            </a:r>
          </a:p>
          <a:p>
            <a:pPr>
              <a:spcAft>
                <a:spcPts val="1800"/>
              </a:spcAft>
            </a:pPr>
            <a:r>
              <a:rPr b="1" sz="1800">
                <a:solidFill>
                  <a:srgbClr val="D62728"/>
                </a:solidFill>
              </a:rPr>
              <a:t>●  Terminology: </a:t>
            </a:r>
            <a:r>
              <a:rPr sz="1800">
                <a:solidFill>
                  <a:srgbClr val="1A1A1A"/>
                </a:solidFill>
              </a:rPr>
              <a:t>a "DEG" is a gene that passes both thresholds, large enough fold-change and statistically significant. That's what we count and plot.</a:t>
            </a:r>
          </a:p>
        </p:txBody>
      </p:sp>
      <p:sp>
        <p:nvSpPr>
          <p:cNvPr id="4" name="TextBox 3"/>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Following sc-best-practices chapter 18 (Differential Gene Expression 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Why pseudobulk, not testing individual cells?</a:t>
            </a:r>
          </a:p>
        </p:txBody>
      </p:sp>
      <p:sp>
        <p:nvSpPr>
          <p:cNvPr id="3" name="Rectangle 2"/>
          <p:cNvSpPr/>
          <p:nvPr/>
        </p:nvSpPr>
        <p:spPr>
          <a:xfrm>
            <a:off x="548640" y="1417320"/>
            <a:ext cx="11064240" cy="1051560"/>
          </a:xfrm>
          <a:prstGeom prst="rect">
            <a:avLst/>
          </a:prstGeom>
          <a:solidFill>
            <a:srgbClr val="F2F2F0"/>
          </a:solidFill>
          <a:ln>
            <a:solidFill>
              <a:srgbClr val="F2F2F0"/>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r>
              <a:rPr b="1" sz="1600">
                <a:solidFill>
                  <a:srgbClr val="D62728"/>
                </a:solidFill>
              </a:rPr>
              <a:t>The problem: </a:t>
            </a:r>
            <a:r>
              <a:rPr sz="1600">
                <a:solidFill>
                  <a:srgbClr val="1A1A1A"/>
                </a:solidFill>
              </a:rPr>
              <a:t>cells from the same patient are not independent measurements. They share that patient's biology. Testing at the cell level treats 50,000 correlated cells as 50,000 independent data points, which inflates false positives (FDR).</a:t>
            </a:r>
          </a:p>
        </p:txBody>
      </p:sp>
      <p:sp>
        <p:nvSpPr>
          <p:cNvPr id="4" name="TextBox 3"/>
          <p:cNvSpPr txBox="1"/>
          <p:nvPr/>
        </p:nvSpPr>
        <p:spPr>
          <a:xfrm>
            <a:off x="548640" y="2651760"/>
            <a:ext cx="11064240" cy="4572000"/>
          </a:xfrm>
          <a:prstGeom prst="rect">
            <a:avLst/>
          </a:prstGeom>
          <a:noFill/>
        </p:spPr>
        <p:txBody>
          <a:bodyPr wrap="square">
            <a:spAutoFit/>
          </a:bodyPr>
          <a:lstStyle/>
          <a:p>
            <a:pPr>
              <a:spcAft>
                <a:spcPts val="1600"/>
              </a:spcAft>
            </a:pPr>
            <a:r>
              <a:rPr b="1" sz="1700">
                <a:solidFill>
                  <a:srgbClr val="D62728"/>
                </a:solidFill>
              </a:rPr>
              <a:t>●  The fix, pseudobulk: </a:t>
            </a:r>
            <a:r>
              <a:rPr sz="1700">
                <a:solidFill>
                  <a:srgbClr val="1A1A1A"/>
                </a:solidFill>
              </a:rPr>
              <a:t>sum all raw counts from one patient's cells (at one timepoint, for one cell type) into a single profile. The patient-timepoint, not the cell, becomes the statistical unit.</a:t>
            </a:r>
          </a:p>
          <a:p>
            <a:pPr>
              <a:spcAft>
                <a:spcPts val="1600"/>
              </a:spcAft>
            </a:pPr>
            <a:r>
              <a:rPr b="1" sz="1700">
                <a:solidFill>
                  <a:srgbClr val="D62728"/>
                </a:solidFill>
              </a:rPr>
              <a:t>●  Field consensus: </a:t>
            </a:r>
            <a:r>
              <a:rPr sz="1700">
                <a:solidFill>
                  <a:srgbClr val="1A1A1A"/>
                </a:solidFill>
              </a:rPr>
              <a:t>sc-best-practices (chapter 18.4) and the wider single-cell field agree pseudobulk is the statistically sound default. Historically single-cell-level testing was also used, but pseudobulk is now recommended.</a:t>
            </a:r>
          </a:p>
          <a:p>
            <a:pPr>
              <a:spcAft>
                <a:spcPts val="1600"/>
              </a:spcAft>
            </a:pPr>
            <a:r>
              <a:rPr b="1" sz="1700">
                <a:solidFill>
                  <a:srgbClr val="D62728"/>
                </a:solidFill>
              </a:rPr>
              <a:t>●  Tooling: </a:t>
            </a:r>
            <a:r>
              <a:rPr sz="1700">
                <a:solidFill>
                  <a:srgbClr val="1A1A1A"/>
                </a:solidFill>
              </a:rPr>
              <a:t>PyDESeq2 (Python port of DESeq2) tests the pseudobulk counts; decoupler builds the pseudobulk profiles and applies quality filters.</a:t>
            </a:r>
          </a:p>
        </p:txBody>
      </p:sp>
      <p:sp>
        <p:nvSpPr>
          <p:cNvPr id="5" name="TextBox 4"/>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sc-best-practices.org/conditions/differential_gene_expression.html, sections 18.1 and 18.4.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Pseudobulk: what actually happens to the numbers</a:t>
            </a:r>
          </a:p>
        </p:txBody>
      </p:sp>
      <p:sp>
        <p:nvSpPr>
          <p:cNvPr id="3" name="Oval 2"/>
          <p:cNvSpPr/>
          <p:nvPr/>
        </p:nvSpPr>
        <p:spPr>
          <a:xfrm>
            <a:off x="548640" y="1554480"/>
            <a:ext cx="502920" cy="502920"/>
          </a:xfrm>
          <a:prstGeom prst="ellipse">
            <a:avLst/>
          </a:prstGeom>
          <a:solidFill>
            <a:srgbClr val="D62728"/>
          </a:solidFill>
          <a:ln>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sp>
        <p:nvSpPr>
          <p:cNvPr id="4" name="TextBox 3"/>
          <p:cNvSpPr txBox="1"/>
          <p:nvPr/>
        </p:nvSpPr>
        <p:spPr>
          <a:xfrm>
            <a:off x="1234440" y="1508760"/>
            <a:ext cx="10332720" cy="1051560"/>
          </a:xfrm>
          <a:prstGeom prst="rect">
            <a:avLst/>
          </a:prstGeom>
          <a:noFill/>
        </p:spPr>
        <p:txBody>
          <a:bodyPr wrap="square">
            <a:spAutoFit/>
          </a:bodyPr>
          <a:lstStyle/>
          <a:p>
            <a:pPr>
              <a:defRPr b="1" sz="1600">
                <a:solidFill>
                  <a:srgbClr val="D62728"/>
                </a:solidFill>
              </a:defRPr>
            </a:pPr>
            <a:r>
              <a:t>Before</a:t>
            </a:r>
          </a:p>
          <a:p>
            <a:pPr>
              <a:defRPr sz="1400">
                <a:solidFill>
                  <a:srgbClr val="1A1A1A"/>
                </a:solidFill>
              </a:defRPr>
            </a:pPr>
            <a:r>
              <a:t>73,278 individual cells (all ACS-sterile timepoints + CCS). Each cell is one noisy, mostly-zero row of gene counts.</a:t>
            </a:r>
          </a:p>
        </p:txBody>
      </p:sp>
      <p:sp>
        <p:nvSpPr>
          <p:cNvPr id="5" name="Oval 4"/>
          <p:cNvSpPr/>
          <p:nvPr/>
        </p:nvSpPr>
        <p:spPr>
          <a:xfrm>
            <a:off x="548640" y="2697480"/>
            <a:ext cx="502920" cy="502920"/>
          </a:xfrm>
          <a:prstGeom prst="ellipse">
            <a:avLst/>
          </a:prstGeom>
          <a:solidFill>
            <a:srgbClr val="D62728"/>
          </a:solidFill>
          <a:ln>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sp>
        <p:nvSpPr>
          <p:cNvPr id="6" name="TextBox 5"/>
          <p:cNvSpPr txBox="1"/>
          <p:nvPr/>
        </p:nvSpPr>
        <p:spPr>
          <a:xfrm>
            <a:off x="1234440" y="2651760"/>
            <a:ext cx="10332720" cy="1051560"/>
          </a:xfrm>
          <a:prstGeom prst="rect">
            <a:avLst/>
          </a:prstGeom>
          <a:noFill/>
        </p:spPr>
        <p:txBody>
          <a:bodyPr wrap="square">
            <a:spAutoFit/>
          </a:bodyPr>
          <a:lstStyle/>
          <a:p>
            <a:pPr>
              <a:defRPr b="1" sz="1600">
                <a:solidFill>
                  <a:srgbClr val="D62728"/>
                </a:solidFill>
              </a:defRPr>
            </a:pPr>
            <a:r>
              <a:t>The operation</a:t>
            </a:r>
          </a:p>
          <a:p>
            <a:pPr>
              <a:defRPr sz="1400">
                <a:solidFill>
                  <a:srgbClr val="1A1A1A"/>
                </a:solidFill>
              </a:defRPr>
            </a:pPr>
            <a:r>
              <a:t>for every (patient, timepoint, cell type) combination, add up the raw counts across all its cells into one row.  dc.pp.pseudobulk(mode="sum")</a:t>
            </a:r>
          </a:p>
        </p:txBody>
      </p:sp>
      <p:sp>
        <p:nvSpPr>
          <p:cNvPr id="7" name="Oval 6"/>
          <p:cNvSpPr/>
          <p:nvPr/>
        </p:nvSpPr>
        <p:spPr>
          <a:xfrm>
            <a:off x="548640" y="3840480"/>
            <a:ext cx="502920" cy="502920"/>
          </a:xfrm>
          <a:prstGeom prst="ellipse">
            <a:avLst/>
          </a:prstGeom>
          <a:solidFill>
            <a:srgbClr val="D62728"/>
          </a:solidFill>
          <a:ln>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sp>
        <p:nvSpPr>
          <p:cNvPr id="8" name="TextBox 7"/>
          <p:cNvSpPr txBox="1"/>
          <p:nvPr/>
        </p:nvSpPr>
        <p:spPr>
          <a:xfrm>
            <a:off x="1234440" y="3794760"/>
            <a:ext cx="10332720" cy="1051560"/>
          </a:xfrm>
          <a:prstGeom prst="rect">
            <a:avLst/>
          </a:prstGeom>
          <a:noFill/>
        </p:spPr>
        <p:txBody>
          <a:bodyPr wrap="square">
            <a:spAutoFit/>
          </a:bodyPr>
          <a:lstStyle/>
          <a:p>
            <a:pPr>
              <a:defRPr b="1" sz="1600">
                <a:solidFill>
                  <a:srgbClr val="D62728"/>
                </a:solidFill>
              </a:defRPr>
            </a:pPr>
            <a:r>
              <a:t>After</a:t>
            </a:r>
          </a:p>
          <a:p>
            <a:pPr>
              <a:defRPr sz="1400">
                <a:solidFill>
                  <a:srgbClr val="1A1A1A"/>
                </a:solidFill>
              </a:defRPr>
            </a:pPr>
            <a:r>
              <a:t>493 pseudobulk samples. Example: T-cell-CD4 alone collapses from thousands of individual cells down to 78 samples (62 ACS patient-timepoints + 16 CCS).</a:t>
            </a:r>
          </a:p>
        </p:txBody>
      </p:sp>
      <p:sp>
        <p:nvSpPr>
          <p:cNvPr id="9" name="Oval 8"/>
          <p:cNvSpPr/>
          <p:nvPr/>
        </p:nvSpPr>
        <p:spPr>
          <a:xfrm>
            <a:off x="548640" y="4983480"/>
            <a:ext cx="502920" cy="502920"/>
          </a:xfrm>
          <a:prstGeom prst="ellipse">
            <a:avLst/>
          </a:prstGeom>
          <a:solidFill>
            <a:srgbClr val="D62728"/>
          </a:solidFill>
          <a:ln>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sp>
        <p:nvSpPr>
          <p:cNvPr id="10" name="TextBox 9"/>
          <p:cNvSpPr txBox="1"/>
          <p:nvPr/>
        </p:nvSpPr>
        <p:spPr>
          <a:xfrm>
            <a:off x="1234440" y="4937760"/>
            <a:ext cx="10332720" cy="1051560"/>
          </a:xfrm>
          <a:prstGeom prst="rect">
            <a:avLst/>
          </a:prstGeom>
          <a:noFill/>
        </p:spPr>
        <p:txBody>
          <a:bodyPr wrap="square">
            <a:spAutoFit/>
          </a:bodyPr>
          <a:lstStyle/>
          <a:p>
            <a:pPr>
              <a:defRPr b="1" sz="1600">
                <a:solidFill>
                  <a:srgbClr val="D62728"/>
                </a:solidFill>
              </a:defRPr>
            </a:pPr>
            <a:r>
              <a:t>Why it matters</a:t>
            </a:r>
          </a:p>
          <a:p>
            <a:pPr>
              <a:defRPr sz="1400">
                <a:solidFill>
                  <a:srgbClr val="1A1A1A"/>
                </a:solidFill>
              </a:defRPr>
            </a:pPr>
            <a:r>
              <a:t>DESeq2 then tests 493 samples, not 73,278 cells. That ~150x reduction is exactly what fixes the false-positive problem: the patient, not the cell, is the statistical unit.</a:t>
            </a:r>
          </a:p>
        </p:txBody>
      </p:sp>
      <p:sp>
        <p:nvSpPr>
          <p:cNvPr id="11" name="TextBox 10"/>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Numbers from the ACS vs CCS comparison (Harmony, named cell types) after sample-level QC filtering.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Our pipeline</a:t>
            </a:r>
          </a:p>
          <a:p>
            <a:pPr>
              <a:defRPr sz="1200">
                <a:solidFill>
                  <a:srgbClr val="6B6B6B"/>
                </a:solidFill>
              </a:defRPr>
            </a:pPr>
            <a:r>
              <a:t>Five steps, in order. Aggregation happens once, first, before anything else touches the data</a:t>
            </a:r>
          </a:p>
        </p:txBody>
      </p:sp>
      <p:sp>
        <p:nvSpPr>
          <p:cNvPr id="3" name="Oval 2"/>
          <p:cNvSpPr/>
          <p:nvPr/>
        </p:nvSpPr>
        <p:spPr>
          <a:xfrm>
            <a:off x="548640" y="1600200"/>
            <a:ext cx="502920" cy="502920"/>
          </a:xfrm>
          <a:prstGeom prst="ellipse">
            <a:avLst/>
          </a:prstGeom>
          <a:solidFill>
            <a:srgbClr val="D62728"/>
          </a:solidFill>
          <a:ln>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defRPr>
            </a:pPr>
            <a:r>
              <a:t>1</a:t>
            </a:r>
          </a:p>
        </p:txBody>
      </p:sp>
      <p:sp>
        <p:nvSpPr>
          <p:cNvPr id="4" name="TextBox 3"/>
          <p:cNvSpPr txBox="1"/>
          <p:nvPr/>
        </p:nvSpPr>
        <p:spPr>
          <a:xfrm>
            <a:off x="1234440" y="1554480"/>
            <a:ext cx="10332720" cy="868680"/>
          </a:xfrm>
          <a:prstGeom prst="rect">
            <a:avLst/>
          </a:prstGeom>
          <a:noFill/>
        </p:spPr>
        <p:txBody>
          <a:bodyPr wrap="square">
            <a:spAutoFit/>
          </a:bodyPr>
          <a:lstStyle/>
          <a:p>
            <a:pPr>
              <a:defRPr b="1" sz="1500">
                <a:solidFill>
                  <a:srgbClr val="1A1A1A"/>
                </a:solidFill>
              </a:defRPr>
            </a:pPr>
            <a:r>
              <a:t>Aggregation</a:t>
            </a:r>
          </a:p>
          <a:p>
            <a:pPr>
              <a:defRPr sz="1250">
                <a:solidFill>
                  <a:srgbClr val="6B6B6B"/>
                </a:solidFill>
              </a:defRPr>
            </a:pPr>
            <a:r>
              <a:t>Sum raw counts per patient x timepoint x cell type.  dc.pp.pseudobulk(mode='sum')</a:t>
            </a:r>
          </a:p>
        </p:txBody>
      </p:sp>
      <p:sp>
        <p:nvSpPr>
          <p:cNvPr id="5" name="Oval 4"/>
          <p:cNvSpPr/>
          <p:nvPr/>
        </p:nvSpPr>
        <p:spPr>
          <a:xfrm>
            <a:off x="548640" y="2514600"/>
            <a:ext cx="502920" cy="502920"/>
          </a:xfrm>
          <a:prstGeom prst="ellipse">
            <a:avLst/>
          </a:prstGeom>
          <a:solidFill>
            <a:srgbClr val="D62728"/>
          </a:solidFill>
          <a:ln>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defRPr>
            </a:pPr>
            <a:r>
              <a:t>2</a:t>
            </a:r>
          </a:p>
        </p:txBody>
      </p:sp>
      <p:sp>
        <p:nvSpPr>
          <p:cNvPr id="6" name="TextBox 5"/>
          <p:cNvSpPr txBox="1"/>
          <p:nvPr/>
        </p:nvSpPr>
        <p:spPr>
          <a:xfrm>
            <a:off x="1234440" y="2468880"/>
            <a:ext cx="10332720" cy="868680"/>
          </a:xfrm>
          <a:prstGeom prst="rect">
            <a:avLst/>
          </a:prstGeom>
          <a:noFill/>
        </p:spPr>
        <p:txBody>
          <a:bodyPr wrap="square">
            <a:spAutoFit/>
          </a:bodyPr>
          <a:lstStyle/>
          <a:p>
            <a:pPr>
              <a:defRPr b="1" sz="1500">
                <a:solidFill>
                  <a:srgbClr val="1A1A1A"/>
                </a:solidFill>
              </a:defRPr>
            </a:pPr>
            <a:r>
              <a:t>Sample-level QC</a:t>
            </a:r>
          </a:p>
          <a:p>
            <a:pPr>
              <a:defRPr sz="1250">
                <a:solidFill>
                  <a:srgbClr val="6B6B6B"/>
                </a:solidFill>
              </a:defRPr>
            </a:pPr>
            <a:r>
              <a:t>Drop pseudobulk rows built from fewer than 10 cells or fewer than 1000 total counts.  dc.pp.filter_samples</a:t>
            </a:r>
          </a:p>
        </p:txBody>
      </p:sp>
      <p:sp>
        <p:nvSpPr>
          <p:cNvPr id="7" name="Oval 6"/>
          <p:cNvSpPr/>
          <p:nvPr/>
        </p:nvSpPr>
        <p:spPr>
          <a:xfrm>
            <a:off x="548640" y="3429000"/>
            <a:ext cx="502920" cy="502920"/>
          </a:xfrm>
          <a:prstGeom prst="ellipse">
            <a:avLst/>
          </a:prstGeom>
          <a:solidFill>
            <a:srgbClr val="D62728"/>
          </a:solidFill>
          <a:ln>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defRPr>
            </a:pPr>
            <a:r>
              <a:t>3</a:t>
            </a:r>
          </a:p>
        </p:txBody>
      </p:sp>
      <p:sp>
        <p:nvSpPr>
          <p:cNvPr id="8" name="TextBox 7"/>
          <p:cNvSpPr txBox="1"/>
          <p:nvPr/>
        </p:nvSpPr>
        <p:spPr>
          <a:xfrm>
            <a:off x="1234440" y="3383280"/>
            <a:ext cx="10332720" cy="868680"/>
          </a:xfrm>
          <a:prstGeom prst="rect">
            <a:avLst/>
          </a:prstGeom>
          <a:noFill/>
        </p:spPr>
        <p:txBody>
          <a:bodyPr wrap="square">
            <a:spAutoFit/>
          </a:bodyPr>
          <a:lstStyle/>
          <a:p>
            <a:pPr>
              <a:defRPr b="1" sz="1500">
                <a:solidFill>
                  <a:srgbClr val="1A1A1A"/>
                </a:solidFill>
              </a:defRPr>
            </a:pPr>
            <a:r>
              <a:t>Gene filtering</a:t>
            </a:r>
          </a:p>
          <a:p>
            <a:pPr>
              <a:defRPr sz="1250">
                <a:solidFill>
                  <a:srgbClr val="6B6B6B"/>
                </a:solidFill>
              </a:defRPr>
            </a:pPr>
            <a:r>
              <a:t>Remove genes too lowly expressed to test reliably.  dc.pp.filter_by_expr</a:t>
            </a:r>
          </a:p>
        </p:txBody>
      </p:sp>
      <p:sp>
        <p:nvSpPr>
          <p:cNvPr id="9" name="Oval 8"/>
          <p:cNvSpPr/>
          <p:nvPr/>
        </p:nvSpPr>
        <p:spPr>
          <a:xfrm>
            <a:off x="548640" y="4343400"/>
            <a:ext cx="502920" cy="502920"/>
          </a:xfrm>
          <a:prstGeom prst="ellipse">
            <a:avLst/>
          </a:prstGeom>
          <a:solidFill>
            <a:srgbClr val="D62728"/>
          </a:solidFill>
          <a:ln>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defRPr>
            </a:pPr>
            <a:r>
              <a:t>4</a:t>
            </a:r>
          </a:p>
        </p:txBody>
      </p:sp>
      <p:sp>
        <p:nvSpPr>
          <p:cNvPr id="10" name="TextBox 9"/>
          <p:cNvSpPr txBox="1"/>
          <p:nvPr/>
        </p:nvSpPr>
        <p:spPr>
          <a:xfrm>
            <a:off x="1234440" y="4297680"/>
            <a:ext cx="10332720" cy="868680"/>
          </a:xfrm>
          <a:prstGeom prst="rect">
            <a:avLst/>
          </a:prstGeom>
          <a:noFill/>
        </p:spPr>
        <p:txBody>
          <a:bodyPr wrap="square">
            <a:spAutoFit/>
          </a:bodyPr>
          <a:lstStyle/>
          <a:p>
            <a:pPr>
              <a:defRPr b="1" sz="1500">
                <a:solidFill>
                  <a:srgbClr val="1A1A1A"/>
                </a:solidFill>
              </a:defRPr>
            </a:pPr>
            <a:r>
              <a:t>One model per cell type</a:t>
            </a:r>
          </a:p>
          <a:p>
            <a:pPr>
              <a:defRPr sz="1250">
                <a:solidFill>
                  <a:srgbClr val="6B6B6B"/>
                </a:solidFill>
              </a:defRPr>
            </a:pPr>
            <a:r>
              <a:t>Separate PyDESeq2 fit for each cell type: sizes range 60 to 52,875 cells, too heterogeneous to share one dispersion trend.</a:t>
            </a:r>
          </a:p>
        </p:txBody>
      </p:sp>
      <p:sp>
        <p:nvSpPr>
          <p:cNvPr id="11" name="Oval 10"/>
          <p:cNvSpPr/>
          <p:nvPr/>
        </p:nvSpPr>
        <p:spPr>
          <a:xfrm>
            <a:off x="548640" y="5257800"/>
            <a:ext cx="502920" cy="502920"/>
          </a:xfrm>
          <a:prstGeom prst="ellipse">
            <a:avLst/>
          </a:prstGeom>
          <a:solidFill>
            <a:srgbClr val="D62728"/>
          </a:solidFill>
          <a:ln>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defRPr>
            </a:pPr>
            <a:r>
              <a:t>5</a:t>
            </a:r>
          </a:p>
        </p:txBody>
      </p:sp>
      <p:sp>
        <p:nvSpPr>
          <p:cNvPr id="12" name="TextBox 11"/>
          <p:cNvSpPr txBox="1"/>
          <p:nvPr/>
        </p:nvSpPr>
        <p:spPr>
          <a:xfrm>
            <a:off x="1234440" y="5212080"/>
            <a:ext cx="10332720" cy="868680"/>
          </a:xfrm>
          <a:prstGeom prst="rect">
            <a:avLst/>
          </a:prstGeom>
          <a:noFill/>
        </p:spPr>
        <p:txBody>
          <a:bodyPr wrap="square">
            <a:spAutoFit/>
          </a:bodyPr>
          <a:lstStyle/>
          <a:p>
            <a:pPr>
              <a:defRPr b="1" sz="1500">
                <a:solidFill>
                  <a:srgbClr val="1A1A1A"/>
                </a:solidFill>
              </a:defRPr>
            </a:pPr>
            <a:r>
              <a:t>Statistical testing</a:t>
            </a:r>
          </a:p>
          <a:p>
            <a:pPr>
              <a:defRPr sz="1250">
                <a:solidFill>
                  <a:srgbClr val="6B6B6B"/>
                </a:solidFill>
              </a:defRPr>
            </a:pPr>
            <a:r>
              <a:t>Wald test on the comparison of interest, giving log2 fold-change, standard error, and adjusted p-value (padj).</a:t>
            </a:r>
          </a:p>
        </p:txBody>
      </p:sp>
      <p:sp>
        <p:nvSpPr>
          <p:cNvPr id="13" name="TextBox 12"/>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Restricted to cell types with adequate pseudobulk sample sizes; rarer types excluded per QC panel.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Sample overview</a:t>
            </a:r>
          </a:p>
          <a:p>
            <a:pPr>
              <a:defRPr sz="1200">
                <a:solidFill>
                  <a:srgbClr val="6B6B6B"/>
                </a:solidFill>
              </a:defRPr>
            </a:pPr>
            <a:r>
              <a:t>6 unique sample categories (conditions) across 109,504 cells, 119 patient-timepoint samples</a:t>
            </a:r>
          </a:p>
        </p:txBody>
      </p:sp>
      <p:graphicFrame>
        <p:nvGraphicFramePr>
          <p:cNvPr id="3" name="Table 2"/>
          <p:cNvGraphicFramePr>
            <a:graphicFrameLocks noGrp="1"/>
          </p:cNvGraphicFramePr>
          <p:nvPr/>
        </p:nvGraphicFramePr>
        <p:xfrm>
          <a:off x="1371600" y="1554480"/>
          <a:ext cx="6858000" cy="3840480"/>
        </p:xfrm>
        <a:graphic>
          <a:graphicData uri="http://schemas.openxmlformats.org/drawingml/2006/table">
            <a:tbl>
              <a:tblPr firstRow="1" bandRow="1">
                <a:tableStyleId>{5C22544A-7EE6-4342-B048-85BDC9FD1C3A}</a:tableStyleId>
              </a:tblPr>
              <a:tblGrid>
                <a:gridCol w="2560320"/>
                <a:gridCol w="2148840"/>
                <a:gridCol w="2148840"/>
              </a:tblGrid>
              <a:tr h="480060">
                <a:tc>
                  <a:txBody>
                    <a:bodyPr/>
                    <a:lstStyle/>
                    <a:p>
                      <a:pPr algn="l">
                        <a:defRPr sz="1400" b="1">
                          <a:solidFill>
                            <a:srgbClr val="FFFFFF"/>
                          </a:solidFill>
                        </a:defRPr>
                      </a:pPr>
                      <a:r>
                        <a:t>Condition</a:t>
                      </a:r>
                    </a:p>
                  </a:txBody>
                  <a:tcPr anchor="ctr" marL="73152" marR="73152" marT="27432" marB="27432">
                    <a:solidFill>
                      <a:srgbClr val="D62728"/>
                    </a:solidFill>
                  </a:tcPr>
                </a:tc>
                <a:tc>
                  <a:txBody>
                    <a:bodyPr/>
                    <a:lstStyle/>
                    <a:p>
                      <a:pPr algn="ctr">
                        <a:defRPr sz="1400" b="1">
                          <a:solidFill>
                            <a:srgbClr val="FFFFFF"/>
                          </a:solidFill>
                        </a:defRPr>
                      </a:pPr>
                      <a:r>
                        <a:t>Cells</a:t>
                      </a:r>
                    </a:p>
                  </a:txBody>
                  <a:tcPr anchor="ctr" marL="73152" marR="73152" marT="27432" marB="27432">
                    <a:solidFill>
                      <a:srgbClr val="D62728"/>
                    </a:solidFill>
                  </a:tcPr>
                </a:tc>
                <a:tc>
                  <a:txBody>
                    <a:bodyPr/>
                    <a:lstStyle/>
                    <a:p>
                      <a:pPr algn="ctr">
                        <a:defRPr sz="1400" b="1">
                          <a:solidFill>
                            <a:srgbClr val="FFFFFF"/>
                          </a:solidFill>
                        </a:defRPr>
                      </a:pPr>
                      <a:r>
                        <a:t>Samples (patient-timepoints)</a:t>
                      </a:r>
                    </a:p>
                  </a:txBody>
                  <a:tcPr anchor="ctr" marL="73152" marR="73152" marT="27432" marB="27432">
                    <a:solidFill>
                      <a:srgbClr val="D62728"/>
                    </a:solidFill>
                  </a:tcPr>
                </a:tc>
              </a:tr>
              <a:tr h="480060">
                <a:tc>
                  <a:txBody>
                    <a:bodyPr/>
                    <a:lstStyle/>
                    <a:p>
                      <a:pPr algn="l">
                        <a:defRPr sz="1400" b="0">
                          <a:solidFill>
                            <a:srgbClr val="1A1A1A"/>
                          </a:solidFill>
                        </a:defRPr>
                      </a:pPr>
                      <a:r>
                        <a:t>ACS_sterile</a:t>
                      </a:r>
                    </a:p>
                  </a:txBody>
                  <a:tcPr anchor="ctr" marL="73152" marR="73152" marT="27432" marB="27432">
                    <a:solidFill>
                      <a:srgbClr val="FFFFFF"/>
                    </a:solidFill>
                  </a:tcPr>
                </a:tc>
                <a:tc>
                  <a:txBody>
                    <a:bodyPr/>
                    <a:lstStyle/>
                    <a:p>
                      <a:pPr algn="ctr">
                        <a:defRPr sz="1400" b="0">
                          <a:solidFill>
                            <a:srgbClr val="1A1A1A"/>
                          </a:solidFill>
                        </a:defRPr>
                      </a:pPr>
                      <a:r>
                        <a:t>60,712</a:t>
                      </a:r>
                    </a:p>
                  </a:txBody>
                  <a:tcPr anchor="ctr" marL="73152" marR="73152" marT="27432" marB="27432">
                    <a:solidFill>
                      <a:srgbClr val="FFFFFF"/>
                    </a:solidFill>
                  </a:tcPr>
                </a:tc>
                <a:tc>
                  <a:txBody>
                    <a:bodyPr/>
                    <a:lstStyle/>
                    <a:p>
                      <a:pPr algn="ctr">
                        <a:defRPr sz="1400" b="0">
                          <a:solidFill>
                            <a:srgbClr val="1A1A1A"/>
                          </a:solidFill>
                        </a:defRPr>
                      </a:pPr>
                      <a:r>
                        <a:t>62</a:t>
                      </a:r>
                    </a:p>
                  </a:txBody>
                  <a:tcPr anchor="ctr" marL="73152" marR="73152" marT="27432" marB="27432">
                    <a:solidFill>
                      <a:srgbClr val="FFFFFF"/>
                    </a:solidFill>
                  </a:tcPr>
                </a:tc>
              </a:tr>
              <a:tr h="480060">
                <a:tc>
                  <a:txBody>
                    <a:bodyPr/>
                    <a:lstStyle/>
                    <a:p>
                      <a:pPr algn="l">
                        <a:defRPr sz="1400" b="0">
                          <a:solidFill>
                            <a:srgbClr val="1A1A1A"/>
                          </a:solidFill>
                        </a:defRPr>
                      </a:pPr>
                      <a:r>
                        <a:t>ACS_infection</a:t>
                      </a:r>
                    </a:p>
                  </a:txBody>
                  <a:tcPr anchor="ctr" marL="73152" marR="73152" marT="27432" marB="27432">
                    <a:solidFill>
                      <a:srgbClr val="FFFFFF"/>
                    </a:solidFill>
                  </a:tcPr>
                </a:tc>
                <a:tc>
                  <a:txBody>
                    <a:bodyPr/>
                    <a:lstStyle/>
                    <a:p>
                      <a:pPr algn="ctr">
                        <a:defRPr sz="1400" b="0">
                          <a:solidFill>
                            <a:srgbClr val="1A1A1A"/>
                          </a:solidFill>
                        </a:defRPr>
                      </a:pPr>
                      <a:r>
                        <a:t>9,734</a:t>
                      </a:r>
                    </a:p>
                  </a:txBody>
                  <a:tcPr anchor="ctr" marL="73152" marR="73152" marT="27432" marB="27432">
                    <a:solidFill>
                      <a:srgbClr val="FFFFFF"/>
                    </a:solidFill>
                  </a:tcPr>
                </a:tc>
                <a:tc>
                  <a:txBody>
                    <a:bodyPr/>
                    <a:lstStyle/>
                    <a:p>
                      <a:pPr algn="ctr">
                        <a:defRPr sz="1400" b="0">
                          <a:solidFill>
                            <a:srgbClr val="1A1A1A"/>
                          </a:solidFill>
                        </a:defRPr>
                      </a:pPr>
                      <a:r>
                        <a:t>15</a:t>
                      </a:r>
                    </a:p>
                  </a:txBody>
                  <a:tcPr anchor="ctr" marL="73152" marR="73152" marT="27432" marB="27432">
                    <a:solidFill>
                      <a:srgbClr val="FFFFFF"/>
                    </a:solidFill>
                  </a:tcPr>
                </a:tc>
              </a:tr>
              <a:tr h="480060">
                <a:tc>
                  <a:txBody>
                    <a:bodyPr/>
                    <a:lstStyle/>
                    <a:p>
                      <a:pPr algn="l">
                        <a:defRPr sz="1400" b="0">
                          <a:solidFill>
                            <a:srgbClr val="1A1A1A"/>
                          </a:solidFill>
                        </a:defRPr>
                      </a:pPr>
                      <a:r>
                        <a:t>ACS_subacute</a:t>
                      </a:r>
                    </a:p>
                  </a:txBody>
                  <a:tcPr anchor="ctr" marL="73152" marR="73152" marT="27432" marB="27432">
                    <a:solidFill>
                      <a:srgbClr val="FFFFFF"/>
                    </a:solidFill>
                  </a:tcPr>
                </a:tc>
                <a:tc>
                  <a:txBody>
                    <a:bodyPr/>
                    <a:lstStyle/>
                    <a:p>
                      <a:pPr algn="ctr">
                        <a:defRPr sz="1400" b="0">
                          <a:solidFill>
                            <a:srgbClr val="1A1A1A"/>
                          </a:solidFill>
                        </a:defRPr>
                      </a:pPr>
                      <a:r>
                        <a:t>9,903</a:t>
                      </a:r>
                    </a:p>
                  </a:txBody>
                  <a:tcPr anchor="ctr" marL="73152" marR="73152" marT="27432" marB="27432">
                    <a:solidFill>
                      <a:srgbClr val="FFFFFF"/>
                    </a:solidFill>
                  </a:tcPr>
                </a:tc>
                <a:tc>
                  <a:txBody>
                    <a:bodyPr/>
                    <a:lstStyle/>
                    <a:p>
                      <a:pPr algn="ctr">
                        <a:defRPr sz="1400" b="0">
                          <a:solidFill>
                            <a:srgbClr val="1A1A1A"/>
                          </a:solidFill>
                        </a:defRPr>
                      </a:pPr>
                      <a:r>
                        <a:t>9</a:t>
                      </a:r>
                    </a:p>
                  </a:txBody>
                  <a:tcPr anchor="ctr" marL="73152" marR="73152" marT="27432" marB="27432">
                    <a:solidFill>
                      <a:srgbClr val="FFFFFF"/>
                    </a:solidFill>
                  </a:tcPr>
                </a:tc>
              </a:tr>
              <a:tr h="480060">
                <a:tc>
                  <a:txBody>
                    <a:bodyPr/>
                    <a:lstStyle/>
                    <a:p>
                      <a:pPr algn="l">
                        <a:defRPr sz="1400" b="0">
                          <a:solidFill>
                            <a:srgbClr val="1A1A1A"/>
                          </a:solidFill>
                        </a:defRPr>
                      </a:pPr>
                      <a:r>
                        <a:t>CCS</a:t>
                      </a:r>
                    </a:p>
                  </a:txBody>
                  <a:tcPr anchor="ctr" marL="73152" marR="73152" marT="27432" marB="27432">
                    <a:solidFill>
                      <a:srgbClr val="FFFFFF"/>
                    </a:solidFill>
                  </a:tcPr>
                </a:tc>
                <a:tc>
                  <a:txBody>
                    <a:bodyPr/>
                    <a:lstStyle/>
                    <a:p>
                      <a:pPr algn="ctr">
                        <a:defRPr sz="1400" b="0">
                          <a:solidFill>
                            <a:srgbClr val="1A1A1A"/>
                          </a:solidFill>
                        </a:defRPr>
                      </a:pPr>
                      <a:r>
                        <a:t>12,566</a:t>
                      </a:r>
                    </a:p>
                  </a:txBody>
                  <a:tcPr anchor="ctr" marL="73152" marR="73152" marT="27432" marB="27432">
                    <a:solidFill>
                      <a:srgbClr val="FFFFFF"/>
                    </a:solidFill>
                  </a:tcPr>
                </a:tc>
                <a:tc>
                  <a:txBody>
                    <a:bodyPr/>
                    <a:lstStyle/>
                    <a:p>
                      <a:pPr algn="ctr">
                        <a:defRPr sz="1400" b="0">
                          <a:solidFill>
                            <a:srgbClr val="1A1A1A"/>
                          </a:solidFill>
                        </a:defRPr>
                      </a:pPr>
                      <a:r>
                        <a:t>16</a:t>
                      </a:r>
                    </a:p>
                  </a:txBody>
                  <a:tcPr anchor="ctr" marL="73152" marR="73152" marT="27432" marB="27432">
                    <a:solidFill>
                      <a:srgbClr val="FFFFFF"/>
                    </a:solidFill>
                  </a:tcPr>
                </a:tc>
              </a:tr>
              <a:tr h="480060">
                <a:tc>
                  <a:txBody>
                    <a:bodyPr/>
                    <a:lstStyle/>
                    <a:p>
                      <a:pPr algn="l">
                        <a:defRPr sz="1400" b="0">
                          <a:solidFill>
                            <a:srgbClr val="1A1A1A"/>
                          </a:solidFill>
                        </a:defRPr>
                      </a:pPr>
                      <a:r>
                        <a:t>non-CCS</a:t>
                      </a:r>
                    </a:p>
                  </a:txBody>
                  <a:tcPr anchor="ctr" marL="73152" marR="73152" marT="27432" marB="27432">
                    <a:solidFill>
                      <a:srgbClr val="FFFFFF"/>
                    </a:solidFill>
                  </a:tcPr>
                </a:tc>
                <a:tc>
                  <a:txBody>
                    <a:bodyPr/>
                    <a:lstStyle/>
                    <a:p>
                      <a:pPr algn="ctr">
                        <a:defRPr sz="1400" b="0">
                          <a:solidFill>
                            <a:srgbClr val="1A1A1A"/>
                          </a:solidFill>
                        </a:defRPr>
                      </a:pPr>
                      <a:r>
                        <a:t>11,372</a:t>
                      </a:r>
                    </a:p>
                  </a:txBody>
                  <a:tcPr anchor="ctr" marL="73152" marR="73152" marT="27432" marB="27432">
                    <a:solidFill>
                      <a:srgbClr val="FFFFFF"/>
                    </a:solidFill>
                  </a:tcPr>
                </a:tc>
                <a:tc>
                  <a:txBody>
                    <a:bodyPr/>
                    <a:lstStyle/>
                    <a:p>
                      <a:pPr algn="ctr">
                        <a:defRPr sz="1400" b="0">
                          <a:solidFill>
                            <a:srgbClr val="1A1A1A"/>
                          </a:solidFill>
                        </a:defRPr>
                      </a:pPr>
                      <a:r>
                        <a:t>10</a:t>
                      </a:r>
                    </a:p>
                  </a:txBody>
                  <a:tcPr anchor="ctr" marL="73152" marR="73152" marT="27432" marB="27432">
                    <a:solidFill>
                      <a:srgbClr val="FFFFFF"/>
                    </a:solidFill>
                  </a:tcPr>
                </a:tc>
              </a:tr>
              <a:tr h="480060">
                <a:tc>
                  <a:txBody>
                    <a:bodyPr/>
                    <a:lstStyle/>
                    <a:p>
                      <a:pPr algn="l">
                        <a:defRPr sz="1400" b="0">
                          <a:solidFill>
                            <a:srgbClr val="1A1A1A"/>
                          </a:solidFill>
                        </a:defRPr>
                      </a:pPr>
                      <a:r>
                        <a:t>Sclerosis</a:t>
                      </a:r>
                    </a:p>
                  </a:txBody>
                  <a:tcPr anchor="ctr" marL="73152" marR="73152" marT="27432" marB="27432">
                    <a:solidFill>
                      <a:srgbClr val="FFFFFF"/>
                    </a:solidFill>
                  </a:tcPr>
                </a:tc>
                <a:tc>
                  <a:txBody>
                    <a:bodyPr/>
                    <a:lstStyle/>
                    <a:p>
                      <a:pPr algn="ctr">
                        <a:defRPr sz="1400" b="0">
                          <a:solidFill>
                            <a:srgbClr val="1A1A1A"/>
                          </a:solidFill>
                        </a:defRPr>
                      </a:pPr>
                      <a:r>
                        <a:t>5,217</a:t>
                      </a:r>
                    </a:p>
                  </a:txBody>
                  <a:tcPr anchor="ctr" marL="73152" marR="73152" marT="27432" marB="27432">
                    <a:solidFill>
                      <a:srgbClr val="FFFFFF"/>
                    </a:solidFill>
                  </a:tcPr>
                </a:tc>
                <a:tc>
                  <a:txBody>
                    <a:bodyPr/>
                    <a:lstStyle/>
                    <a:p>
                      <a:pPr algn="ctr">
                        <a:defRPr sz="1400" b="0">
                          <a:solidFill>
                            <a:srgbClr val="1A1A1A"/>
                          </a:solidFill>
                        </a:defRPr>
                      </a:pPr>
                      <a:r>
                        <a:t>7</a:t>
                      </a:r>
                    </a:p>
                  </a:txBody>
                  <a:tcPr anchor="ctr" marL="73152" marR="73152" marT="27432" marB="27432">
                    <a:solidFill>
                      <a:srgbClr val="FFFFFF"/>
                    </a:solidFill>
                  </a:tcPr>
                </a:tc>
              </a:tr>
              <a:tr h="480060">
                <a:tc>
                  <a:txBody>
                    <a:bodyPr/>
                    <a:lstStyle/>
                    <a:p>
                      <a:pPr algn="l">
                        <a:defRPr sz="1400" b="1">
                          <a:solidFill>
                            <a:srgbClr val="1A1A1A"/>
                          </a:solidFill>
                        </a:defRPr>
                      </a:pPr>
                      <a:r>
                        <a:t>Total</a:t>
                      </a:r>
                    </a:p>
                  </a:txBody>
                  <a:tcPr anchor="ctr" marL="73152" marR="73152" marT="27432" marB="27432">
                    <a:solidFill>
                      <a:srgbClr val="F2F2F0"/>
                    </a:solidFill>
                  </a:tcPr>
                </a:tc>
                <a:tc>
                  <a:txBody>
                    <a:bodyPr/>
                    <a:lstStyle/>
                    <a:p>
                      <a:pPr algn="ctr">
                        <a:defRPr sz="1400" b="1">
                          <a:solidFill>
                            <a:srgbClr val="1A1A1A"/>
                          </a:solidFill>
                        </a:defRPr>
                      </a:pPr>
                      <a:r>
                        <a:t>109,504</a:t>
                      </a:r>
                    </a:p>
                  </a:txBody>
                  <a:tcPr anchor="ctr" marL="73152" marR="73152" marT="27432" marB="27432">
                    <a:solidFill>
                      <a:srgbClr val="F2F2F0"/>
                    </a:solidFill>
                  </a:tcPr>
                </a:tc>
                <a:tc>
                  <a:txBody>
                    <a:bodyPr/>
                    <a:lstStyle/>
                    <a:p>
                      <a:pPr algn="ctr">
                        <a:defRPr sz="1400" b="1">
                          <a:solidFill>
                            <a:srgbClr val="1A1A1A"/>
                          </a:solidFill>
                        </a:defRPr>
                      </a:pPr>
                      <a:r>
                        <a:t>119</a:t>
                      </a:r>
                    </a:p>
                  </a:txBody>
                  <a:tcPr anchor="ctr" marL="73152" marR="73152" marT="27432" marB="27432">
                    <a:solidFill>
                      <a:srgbClr val="F2F2F0"/>
                    </a:solidFill>
                  </a:tcPr>
                </a:tc>
              </a:tr>
            </a:tbl>
          </a:graphicData>
        </a:graphic>
      </p:graphicFrame>
      <p:sp>
        <p:nvSpPr>
          <p:cNvPr id="4" name="TextBox 3"/>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Condition is the unique sample category used to define comparison groups. Derived from the classification field in adata.obs.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Timepoint structure</a:t>
            </a:r>
          </a:p>
          <a:p>
            <a:pPr>
              <a:defRPr sz="1200">
                <a:solidFill>
                  <a:srgbClr val="6B6B6B"/>
                </a:solidFill>
              </a:defRPr>
            </a:pPr>
            <a:r>
              <a:t>CCS, non-CCS, and Sclerosis are single-draw (TP0M only). Only ACS has multiple timepoints (TP1M-TP4M)</a:t>
            </a:r>
          </a:p>
        </p:txBody>
      </p:sp>
      <p:pic>
        <p:nvPicPr>
          <p:cNvPr id="3" name="Picture 2" descr="panel1_patient_timepoint_matrix.png"/>
          <p:cNvPicPr>
            <a:picLocks noChangeAspect="1"/>
          </p:cNvPicPr>
          <p:nvPr/>
        </p:nvPicPr>
        <p:blipFill>
          <a:blip r:embed="rId2"/>
          <a:stretch>
            <a:fillRect/>
          </a:stretch>
        </p:blipFill>
        <p:spPr>
          <a:xfrm>
            <a:off x="2245069" y="1371600"/>
            <a:ext cx="7671381" cy="4846320"/>
          </a:xfrm>
          <a:prstGeom prst="rect">
            <a:avLst/>
          </a:prstGeom>
        </p:spPr>
      </p:pic>
      <p:sp>
        <p:nvSpPr>
          <p:cNvPr id="4" name="TextBox 3"/>
          <p:cNvSpPr txBox="1"/>
          <p:nvPr/>
        </p:nvSpPr>
        <p:spPr>
          <a:xfrm>
            <a:off x="548640" y="6263640"/>
            <a:ext cx="11064240" cy="4572000"/>
          </a:xfrm>
          <a:prstGeom prst="rect">
            <a:avLst/>
          </a:prstGeom>
          <a:noFill/>
        </p:spPr>
        <p:txBody>
          <a:bodyPr wrap="square">
            <a:spAutoFit/>
          </a:bodyPr>
          <a:lstStyle/>
          <a:p>
            <a:pPr>
              <a:spcAft>
                <a:spcPts val="0"/>
              </a:spcAft>
            </a:pPr>
            <a:r>
              <a:rPr b="1" sz="1100">
                <a:solidFill>
                  <a:srgbClr val="D62728"/>
                </a:solidFill>
              </a:rPr>
              <a:t>●  Timepoint derivation: </a:t>
            </a:r>
            <a:r>
              <a:rPr sz="1100">
                <a:solidFill>
                  <a:srgbClr val="1A1A1A"/>
                </a:solidFill>
              </a:rPr>
              <a:t>parsed from the sample ID (display_name), e.g. "2.1" to TP1M, "2.4" to TP4M. No suffix (single-draw samples) to TP0M.</a:t>
            </a:r>
          </a:p>
        </p:txBody>
      </p:sp>
      <p:sp>
        <p:nvSpPr>
          <p:cNvPr id="5" name="TextBox 4"/>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11 of 28 ACS patients have all 4 timepoints sampled; the longitudinal comparison uses only patients with both TP1M and TP4M present.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Our three comparisons</a:t>
            </a:r>
          </a:p>
          <a:p>
            <a:pPr>
              <a:defRPr sz="1200">
                <a:solidFill>
                  <a:srgbClr val="6B6B6B"/>
                </a:solidFill>
              </a:defRPr>
            </a:pPr>
            <a:r>
              <a:t>Cohort design follows Pekayvaz et al. 2024 (Nat Med); the DESeq2 pseudobulk analysis itself is our own</a:t>
            </a:r>
          </a:p>
        </p:txBody>
      </p:sp>
      <p:sp>
        <p:nvSpPr>
          <p:cNvPr id="3" name="Rectangle 2"/>
          <p:cNvSpPr/>
          <p:nvPr/>
        </p:nvSpPr>
        <p:spPr>
          <a:xfrm>
            <a:off x="548640" y="1554480"/>
            <a:ext cx="11064240" cy="1417320"/>
          </a:xfrm>
          <a:prstGeom prst="rect">
            <a:avLst/>
          </a:prstGeom>
          <a:solidFill>
            <a:srgbClr val="F2F2F0"/>
          </a:solidFill>
          <a:ln>
            <a:solidFill>
              <a:srgbClr val="F2F2F0"/>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a:lstStyle/>
          <a:p>
            <a:pPr algn="ctr">
              <a:defRPr sz="1100" b="1">
                <a:solidFill>
                  <a:srgbClr val="D62728"/>
                </a:solidFill>
              </a:defRPr>
            </a:pPr>
            <a:r>
              <a:t>CROSS-SECTIONAL</a:t>
            </a:r>
          </a:p>
          <a:p>
            <a:pPr>
              <a:defRPr sz="1800" b="1">
                <a:solidFill>
                  <a:srgbClr val="1A1A1A"/>
                </a:solidFill>
              </a:defRPr>
            </a:pPr>
            <a:r>
              <a:t>ACS vs CCS</a:t>
            </a:r>
          </a:p>
          <a:p>
            <a:pPr>
              <a:defRPr sz="1300">
                <a:solidFill>
                  <a:srgbClr val="1A1A1A"/>
                </a:solidFill>
              </a:defRPr>
            </a:pPr>
            <a:r>
              <a:t>Acute heart attack patients (all 4 blood draws, TP1M-TP4M) vs stable disease patients (CCS)</a:t>
            </a:r>
          </a:p>
          <a:p>
            <a:r>
              <a:rPr sz="1200" b="1">
                <a:solidFill>
                  <a:srgbClr val="D62728"/>
                </a:solidFill>
              </a:rPr>
              <a:t>~ patient_id + condition  </a:t>
            </a:r>
            <a:r>
              <a:rPr sz="1200" i="1">
                <a:solidFill>
                  <a:srgbClr val="6B6B6B"/>
                </a:solidFill>
              </a:rPr>
              <a:t>blocked by patient, since ACS patients contribute up to 4 samples each</a:t>
            </a:r>
          </a:p>
        </p:txBody>
      </p:sp>
      <p:sp>
        <p:nvSpPr>
          <p:cNvPr id="4" name="Rectangle 3"/>
          <p:cNvSpPr/>
          <p:nvPr/>
        </p:nvSpPr>
        <p:spPr>
          <a:xfrm>
            <a:off x="548640" y="3154680"/>
            <a:ext cx="11064240" cy="1417320"/>
          </a:xfrm>
          <a:prstGeom prst="rect">
            <a:avLst/>
          </a:prstGeom>
          <a:solidFill>
            <a:srgbClr val="F2F2F0"/>
          </a:solidFill>
          <a:ln>
            <a:solidFill>
              <a:srgbClr val="F2F2F0"/>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a:lstStyle/>
          <a:p>
            <a:pPr algn="ctr">
              <a:defRPr sz="1100" b="1">
                <a:solidFill>
                  <a:srgbClr val="D62728"/>
                </a:solidFill>
              </a:defRPr>
            </a:pPr>
            <a:r>
              <a:t>CROSS-SECTIONAL</a:t>
            </a:r>
          </a:p>
          <a:p>
            <a:pPr>
              <a:defRPr sz="1800" b="1">
                <a:solidFill>
                  <a:srgbClr val="1A1A1A"/>
                </a:solidFill>
              </a:defRPr>
            </a:pPr>
            <a:r>
              <a:t>ACS vs non-CCS</a:t>
            </a:r>
          </a:p>
          <a:p>
            <a:pPr>
              <a:defRPr sz="1300">
                <a:solidFill>
                  <a:srgbClr val="1A1A1A"/>
                </a:solidFill>
              </a:defRPr>
            </a:pPr>
            <a:r>
              <a:t>Acute heart attack (first blood draw only) vs patients where coronary disease was ruled out, pooled with mild sclerosis as "Control"</a:t>
            </a:r>
          </a:p>
          <a:p>
            <a:r>
              <a:rPr sz="1200" b="1">
                <a:solidFill>
                  <a:srgbClr val="D62728"/>
                </a:solidFill>
              </a:rPr>
              <a:t>~ condition  </a:t>
            </a:r>
            <a:r>
              <a:rPr sz="1200" i="1">
                <a:solidFill>
                  <a:srgbClr val="6B6B6B"/>
                </a:solidFill>
              </a:rPr>
              <a:t>one sample per patient; not a comparison the source paper makes</a:t>
            </a:r>
          </a:p>
        </p:txBody>
      </p:sp>
      <p:sp>
        <p:nvSpPr>
          <p:cNvPr id="5" name="Rectangle 4"/>
          <p:cNvSpPr/>
          <p:nvPr/>
        </p:nvSpPr>
        <p:spPr>
          <a:xfrm>
            <a:off x="548640" y="4754880"/>
            <a:ext cx="11064240" cy="1417320"/>
          </a:xfrm>
          <a:prstGeom prst="rect">
            <a:avLst/>
          </a:prstGeom>
          <a:solidFill>
            <a:srgbClr val="F2F2F0"/>
          </a:solidFill>
          <a:ln>
            <a:solidFill>
              <a:srgbClr val="F2F2F0"/>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a:lstStyle/>
          <a:p>
            <a:pPr algn="ctr">
              <a:defRPr sz="1100" b="1">
                <a:solidFill>
                  <a:srgbClr val="D62728"/>
                </a:solidFill>
              </a:defRPr>
            </a:pPr>
            <a:r>
              <a:t>LONGITUDINAL</a:t>
            </a:r>
          </a:p>
          <a:p>
            <a:pPr>
              <a:defRPr sz="1800" b="1">
                <a:solidFill>
                  <a:srgbClr val="1A1A1A"/>
                </a:solidFill>
              </a:defRPr>
            </a:pPr>
            <a:r>
              <a:t>ACS: early vs late blood draw</a:t>
            </a:r>
          </a:p>
          <a:p>
            <a:pPr>
              <a:defRPr sz="1300">
                <a:solidFill>
                  <a:srgbClr val="1A1A1A"/>
                </a:solidFill>
              </a:defRPr>
            </a:pPr>
            <a:r>
              <a:t>Same acute heart-attack patients, peri-interventional (TP1M) vs pre-discharge (TP4M). Tracks immune resolution</a:t>
            </a:r>
          </a:p>
          <a:p>
            <a:r>
              <a:rPr sz="1200" b="1">
                <a:solidFill>
                  <a:srgbClr val="D62728"/>
                </a:solidFill>
              </a:rPr>
              <a:t>~ patient_id + timepoint  </a:t>
            </a:r>
            <a:r>
              <a:rPr sz="1200" i="1">
                <a:solidFill>
                  <a:srgbClr val="6B6B6B"/>
                </a:solidFill>
              </a:rPr>
              <a:t>paired: same patient in both groups</a:t>
            </a:r>
          </a:p>
        </p:txBody>
      </p:sp>
      <p:sp>
        <p:nvSpPr>
          <p:cNvPr id="6" name="TextBox 5"/>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patient_id blocking avoids pseudoreplication when a patient contributes more than one sample to a comparison.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Results: how many significant genes per comparison</a:t>
            </a:r>
          </a:p>
          <a:p>
            <a:pPr>
              <a:defRPr sz="1200">
                <a:solidFill>
                  <a:srgbClr val="6B6B6B"/>
                </a:solidFill>
              </a:defRPr>
            </a:pPr>
            <a:r>
              <a:t>padj &lt; 0.05, |log2FC| &gt; 1. Repeated across 4 cell-type groupings for robustness</a:t>
            </a:r>
          </a:p>
        </p:txBody>
      </p:sp>
      <p:graphicFrame>
        <p:nvGraphicFramePr>
          <p:cNvPr id="3" name="Table 2"/>
          <p:cNvGraphicFramePr>
            <a:graphicFrameLocks noGrp="1"/>
          </p:cNvGraphicFramePr>
          <p:nvPr/>
        </p:nvGraphicFramePr>
        <p:xfrm>
          <a:off x="548640" y="1600200"/>
          <a:ext cx="7671816" cy="2011680"/>
        </p:xfrm>
        <a:graphic>
          <a:graphicData uri="http://schemas.openxmlformats.org/drawingml/2006/table">
            <a:tbl>
              <a:tblPr firstRow="1" bandRow="1">
                <a:tableStyleId>{5C22544A-7EE6-4342-B048-85BDC9FD1C3A}</a:tableStyleId>
              </a:tblPr>
              <a:tblGrid>
                <a:gridCol w="3474720"/>
                <a:gridCol w="1399032"/>
                <a:gridCol w="1399032"/>
                <a:gridCol w="1399032"/>
              </a:tblGrid>
              <a:tr h="402336">
                <a:tc>
                  <a:txBody>
                    <a:bodyPr/>
                    <a:lstStyle/>
                    <a:p>
                      <a:pPr algn="l">
                        <a:defRPr sz="1250" b="1">
                          <a:solidFill>
                            <a:srgbClr val="FFFFFF"/>
                          </a:solidFill>
                        </a:defRPr>
                      </a:pPr>
                      <a:r>
                        <a:t>Grouping</a:t>
                      </a:r>
                    </a:p>
                  </a:txBody>
                  <a:tcPr anchor="ctr" marL="73152" marR="73152" marT="27432" marB="27432">
                    <a:solidFill>
                      <a:srgbClr val="D62728"/>
                    </a:solidFill>
                  </a:tcPr>
                </a:tc>
                <a:tc>
                  <a:txBody>
                    <a:bodyPr/>
                    <a:lstStyle/>
                    <a:p>
                      <a:pPr algn="ctr">
                        <a:defRPr sz="1250" b="1">
                          <a:solidFill>
                            <a:srgbClr val="FFFFFF"/>
                          </a:solidFill>
                        </a:defRPr>
                      </a:pPr>
                      <a:r>
                        <a:t>ACS vs CCS</a:t>
                      </a:r>
                    </a:p>
                  </a:txBody>
                  <a:tcPr anchor="ctr" marL="73152" marR="73152" marT="27432" marB="27432">
                    <a:solidFill>
                      <a:srgbClr val="D62728"/>
                    </a:solidFill>
                  </a:tcPr>
                </a:tc>
                <a:tc>
                  <a:txBody>
                    <a:bodyPr/>
                    <a:lstStyle/>
                    <a:p>
                      <a:pPr algn="ctr">
                        <a:defRPr sz="1250" b="1">
                          <a:solidFill>
                            <a:srgbClr val="FFFFFF"/>
                          </a:solidFill>
                        </a:defRPr>
                      </a:pPr>
                      <a:r>
                        <a:t>ACS vs non-CCS</a:t>
                      </a:r>
                    </a:p>
                  </a:txBody>
                  <a:tcPr anchor="ctr" marL="73152" marR="73152" marT="27432" marB="27432">
                    <a:solidFill>
                      <a:srgbClr val="D62728"/>
                    </a:solidFill>
                  </a:tcPr>
                </a:tc>
                <a:tc>
                  <a:txBody>
                    <a:bodyPr/>
                    <a:lstStyle/>
                    <a:p>
                      <a:pPr algn="ctr">
                        <a:defRPr sz="1250" b="1">
                          <a:solidFill>
                            <a:srgbClr val="FFFFFF"/>
                          </a:solidFill>
                        </a:defRPr>
                      </a:pPr>
                      <a:r>
                        <a:t>Longitudinal</a:t>
                      </a:r>
                    </a:p>
                  </a:txBody>
                  <a:tcPr anchor="ctr" marL="73152" marR="73152" marT="27432" marB="27432">
                    <a:solidFill>
                      <a:srgbClr val="D62728"/>
                    </a:solidFill>
                  </a:tcPr>
                </a:tc>
              </a:tr>
              <a:tr h="402336">
                <a:tc>
                  <a:txBody>
                    <a:bodyPr/>
                    <a:lstStyle/>
                    <a:p>
                      <a:pPr algn="l">
                        <a:defRPr sz="1250" b="0">
                          <a:solidFill>
                            <a:srgbClr val="1A1A1A"/>
                          </a:solidFill>
                        </a:defRPr>
                      </a:pPr>
                      <a:r>
                        <a:t>Harmony_leiden (25 clusters, in object)</a:t>
                      </a:r>
                    </a:p>
                  </a:txBody>
                  <a:tcPr anchor="ctr" marL="73152" marR="73152" marT="27432" marB="27432">
                    <a:solidFill>
                      <a:srgbClr val="FFFFFF"/>
                    </a:solidFill>
                  </a:tcPr>
                </a:tc>
                <a:tc>
                  <a:txBody>
                    <a:bodyPr/>
                    <a:lstStyle/>
                    <a:p>
                      <a:pPr algn="ctr">
                        <a:defRPr sz="1250" b="0">
                          <a:solidFill>
                            <a:srgbClr val="1A1A1A"/>
                          </a:solidFill>
                        </a:defRPr>
                      </a:pPr>
                      <a:r>
                        <a:t>264</a:t>
                      </a:r>
                    </a:p>
                  </a:txBody>
                  <a:tcPr anchor="ctr" marL="73152" marR="73152" marT="27432" marB="27432">
                    <a:solidFill>
                      <a:srgbClr val="FFFFFF"/>
                    </a:solidFill>
                  </a:tcPr>
                </a:tc>
                <a:tc>
                  <a:txBody>
                    <a:bodyPr/>
                    <a:lstStyle/>
                    <a:p>
                      <a:pPr algn="ctr">
                        <a:defRPr sz="1250" b="0">
                          <a:solidFill>
                            <a:srgbClr val="1A1A1A"/>
                          </a:solidFill>
                        </a:defRPr>
                      </a:pPr>
                      <a:r>
                        <a:t>83</a:t>
                      </a:r>
                    </a:p>
                  </a:txBody>
                  <a:tcPr anchor="ctr" marL="73152" marR="73152" marT="27432" marB="27432">
                    <a:solidFill>
                      <a:srgbClr val="FFFFFF"/>
                    </a:solidFill>
                  </a:tcPr>
                </a:tc>
                <a:tc>
                  <a:txBody>
                    <a:bodyPr/>
                    <a:lstStyle/>
                    <a:p>
                      <a:pPr algn="ctr">
                        <a:defRPr sz="1250" b="0">
                          <a:solidFill>
                            <a:srgbClr val="1A1A1A"/>
                          </a:solidFill>
                        </a:defRPr>
                      </a:pPr>
                      <a:r>
                        <a:t>173</a:t>
                      </a:r>
                    </a:p>
                  </a:txBody>
                  <a:tcPr anchor="ctr" marL="73152" marR="73152" marT="27432" marB="27432">
                    <a:solidFill>
                      <a:srgbClr val="FFFFFF"/>
                    </a:solidFill>
                  </a:tcPr>
                </a:tc>
              </a:tr>
              <a:tr h="402336">
                <a:tc>
                  <a:txBody>
                    <a:bodyPr/>
                    <a:lstStyle/>
                    <a:p>
                      <a:pPr algn="l">
                        <a:defRPr sz="1250" b="1">
                          <a:solidFill>
                            <a:srgbClr val="1A1A1A"/>
                          </a:solidFill>
                        </a:defRPr>
                      </a:pPr>
                      <a:r>
                        <a:t>Harmony_named (Scanorama labels)</a:t>
                      </a:r>
                    </a:p>
                  </a:txBody>
                  <a:tcPr anchor="ctr" marL="73152" marR="73152" marT="27432" marB="27432">
                    <a:solidFill>
                      <a:srgbClr val="F2F2F0"/>
                    </a:solidFill>
                  </a:tcPr>
                </a:tc>
                <a:tc>
                  <a:txBody>
                    <a:bodyPr/>
                    <a:lstStyle/>
                    <a:p>
                      <a:pPr algn="ctr">
                        <a:defRPr sz="1250" b="1">
                          <a:solidFill>
                            <a:srgbClr val="1A1A1A"/>
                          </a:solidFill>
                        </a:defRPr>
                      </a:pPr>
                      <a:r>
                        <a:t>351</a:t>
                      </a:r>
                    </a:p>
                  </a:txBody>
                  <a:tcPr anchor="ctr" marL="73152" marR="73152" marT="27432" marB="27432">
                    <a:solidFill>
                      <a:srgbClr val="F2F2F0"/>
                    </a:solidFill>
                  </a:tcPr>
                </a:tc>
                <a:tc>
                  <a:txBody>
                    <a:bodyPr/>
                    <a:lstStyle/>
                    <a:p>
                      <a:pPr algn="ctr">
                        <a:defRPr sz="1250" b="1">
                          <a:solidFill>
                            <a:srgbClr val="1A1A1A"/>
                          </a:solidFill>
                        </a:defRPr>
                      </a:pPr>
                      <a:r>
                        <a:t>57</a:t>
                      </a:r>
                    </a:p>
                  </a:txBody>
                  <a:tcPr anchor="ctr" marL="73152" marR="73152" marT="27432" marB="27432">
                    <a:solidFill>
                      <a:srgbClr val="F2F2F0"/>
                    </a:solidFill>
                  </a:tcPr>
                </a:tc>
                <a:tc>
                  <a:txBody>
                    <a:bodyPr/>
                    <a:lstStyle/>
                    <a:p>
                      <a:pPr algn="ctr">
                        <a:defRPr sz="1250" b="1">
                          <a:solidFill>
                            <a:srgbClr val="1A1A1A"/>
                          </a:solidFill>
                        </a:defRPr>
                      </a:pPr>
                      <a:r>
                        <a:t>128</a:t>
                      </a:r>
                    </a:p>
                  </a:txBody>
                  <a:tcPr anchor="ctr" marL="73152" marR="73152" marT="27432" marB="27432">
                    <a:solidFill>
                      <a:srgbClr val="F2F2F0"/>
                    </a:solidFill>
                  </a:tcPr>
                </a:tc>
              </a:tr>
              <a:tr h="402336">
                <a:tc>
                  <a:txBody>
                    <a:bodyPr/>
                    <a:lstStyle/>
                    <a:p>
                      <a:pPr algn="l">
                        <a:defRPr sz="1250" b="0">
                          <a:solidFill>
                            <a:srgbClr val="1A1A1A"/>
                          </a:solidFill>
                        </a:defRPr>
                      </a:pPr>
                      <a:r>
                        <a:t>DRVI_leiden (32 clusters, in object)</a:t>
                      </a:r>
                    </a:p>
                  </a:txBody>
                  <a:tcPr anchor="ctr" marL="73152" marR="73152" marT="27432" marB="27432">
                    <a:solidFill>
                      <a:srgbClr val="FFFFFF"/>
                    </a:solidFill>
                  </a:tcPr>
                </a:tc>
                <a:tc>
                  <a:txBody>
                    <a:bodyPr/>
                    <a:lstStyle/>
                    <a:p>
                      <a:pPr algn="ctr">
                        <a:defRPr sz="1250" b="0">
                          <a:solidFill>
                            <a:srgbClr val="1A1A1A"/>
                          </a:solidFill>
                        </a:defRPr>
                      </a:pPr>
                      <a:r>
                        <a:t>333</a:t>
                      </a:r>
                    </a:p>
                  </a:txBody>
                  <a:tcPr anchor="ctr" marL="73152" marR="73152" marT="27432" marB="27432">
                    <a:solidFill>
                      <a:srgbClr val="FFFFFF"/>
                    </a:solidFill>
                  </a:tcPr>
                </a:tc>
                <a:tc>
                  <a:txBody>
                    <a:bodyPr/>
                    <a:lstStyle/>
                    <a:p>
                      <a:pPr algn="ctr">
                        <a:defRPr sz="1250" b="0">
                          <a:solidFill>
                            <a:srgbClr val="1A1A1A"/>
                          </a:solidFill>
                        </a:defRPr>
                      </a:pPr>
                      <a:r>
                        <a:t>70</a:t>
                      </a:r>
                    </a:p>
                  </a:txBody>
                  <a:tcPr anchor="ctr" marL="73152" marR="73152" marT="27432" marB="27432">
                    <a:solidFill>
                      <a:srgbClr val="FFFFFF"/>
                    </a:solidFill>
                  </a:tcPr>
                </a:tc>
                <a:tc>
                  <a:txBody>
                    <a:bodyPr/>
                    <a:lstStyle/>
                    <a:p>
                      <a:pPr algn="ctr">
                        <a:defRPr sz="1250" b="0">
                          <a:solidFill>
                            <a:srgbClr val="1A1A1A"/>
                          </a:solidFill>
                        </a:defRPr>
                      </a:pPr>
                      <a:r>
                        <a:t>147</a:t>
                      </a:r>
                    </a:p>
                  </a:txBody>
                  <a:tcPr anchor="ctr" marL="73152" marR="73152" marT="27432" marB="27432">
                    <a:solidFill>
                      <a:srgbClr val="FFFFFF"/>
                    </a:solidFill>
                  </a:tcPr>
                </a:tc>
              </a:tr>
              <a:tr h="402336">
                <a:tc>
                  <a:txBody>
                    <a:bodyPr/>
                    <a:lstStyle/>
                    <a:p>
                      <a:pPr algn="l">
                        <a:defRPr sz="1250" b="1">
                          <a:solidFill>
                            <a:srgbClr val="1A1A1A"/>
                          </a:solidFill>
                        </a:defRPr>
                      </a:pPr>
                      <a:r>
                        <a:t>DRVI_named (Scanorama labels)</a:t>
                      </a:r>
                    </a:p>
                  </a:txBody>
                  <a:tcPr anchor="ctr" marL="73152" marR="73152" marT="27432" marB="27432">
                    <a:solidFill>
                      <a:srgbClr val="F2F2F0"/>
                    </a:solidFill>
                  </a:tcPr>
                </a:tc>
                <a:tc>
                  <a:txBody>
                    <a:bodyPr/>
                    <a:lstStyle/>
                    <a:p>
                      <a:pPr algn="ctr">
                        <a:defRPr sz="1250" b="1">
                          <a:solidFill>
                            <a:srgbClr val="1A1A1A"/>
                          </a:solidFill>
                        </a:defRPr>
                      </a:pPr>
                      <a:r>
                        <a:t>339</a:t>
                      </a:r>
                    </a:p>
                  </a:txBody>
                  <a:tcPr anchor="ctr" marL="73152" marR="73152" marT="27432" marB="27432">
                    <a:solidFill>
                      <a:srgbClr val="F2F2F0"/>
                    </a:solidFill>
                  </a:tcPr>
                </a:tc>
                <a:tc>
                  <a:txBody>
                    <a:bodyPr/>
                    <a:lstStyle/>
                    <a:p>
                      <a:pPr algn="ctr">
                        <a:defRPr sz="1250" b="1">
                          <a:solidFill>
                            <a:srgbClr val="1A1A1A"/>
                          </a:solidFill>
                        </a:defRPr>
                      </a:pPr>
                      <a:r>
                        <a:t>60</a:t>
                      </a:r>
                    </a:p>
                  </a:txBody>
                  <a:tcPr anchor="ctr" marL="73152" marR="73152" marT="27432" marB="27432">
                    <a:solidFill>
                      <a:srgbClr val="F2F2F0"/>
                    </a:solidFill>
                  </a:tcPr>
                </a:tc>
                <a:tc>
                  <a:txBody>
                    <a:bodyPr/>
                    <a:lstStyle/>
                    <a:p>
                      <a:pPr algn="ctr">
                        <a:defRPr sz="1250" b="1">
                          <a:solidFill>
                            <a:srgbClr val="1A1A1A"/>
                          </a:solidFill>
                        </a:defRPr>
                      </a:pPr>
                      <a:r>
                        <a:t>128</a:t>
                      </a:r>
                    </a:p>
                  </a:txBody>
                  <a:tcPr anchor="ctr" marL="73152" marR="73152" marT="27432" marB="27432">
                    <a:solidFill>
                      <a:srgbClr val="F2F2F0"/>
                    </a:solidFill>
                  </a:tcPr>
                </a:tc>
              </a:tr>
            </a:tbl>
          </a:graphicData>
        </a:graphic>
      </p:graphicFrame>
      <p:sp>
        <p:nvSpPr>
          <p:cNvPr id="4" name="Rectangle 3"/>
          <p:cNvSpPr/>
          <p:nvPr/>
        </p:nvSpPr>
        <p:spPr>
          <a:xfrm>
            <a:off x="8503920" y="1600200"/>
            <a:ext cx="3200400" cy="2011680"/>
          </a:xfrm>
          <a:prstGeom prst="rect">
            <a:avLst/>
          </a:prstGeom>
          <a:solidFill>
            <a:srgbClr val="F2F2F0"/>
          </a:solidFill>
          <a:ln>
            <a:solidFill>
              <a:srgbClr val="F2F2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300">
                <a:solidFill>
                  <a:srgbClr val="D62728"/>
                </a:solidFill>
              </a:defRPr>
            </a:pPr>
            <a:r>
              <a:t>Robustness signal</a:t>
            </a:r>
          </a:p>
          <a:p>
            <a:pPr>
              <a:spcBef>
                <a:spcPts val="500"/>
              </a:spcBef>
              <a:defRPr sz="1050">
                <a:solidFill>
                  <a:srgbClr val="1A1A1A"/>
                </a:solidFill>
              </a:defRPr>
            </a:pPr>
            <a:r>
              <a:t>Harmony_named vs DRVI_named agree closely: 351/339, 57/60, 128/128.</a:t>
            </a:r>
          </a:p>
          <a:p>
            <a:pPr>
              <a:spcBef>
                <a:spcPts val="500"/>
              </a:spcBef>
              <a:defRPr sz="1050">
                <a:solidFill>
                  <a:srgbClr val="1A1A1A"/>
                </a:solidFill>
              </a:defRPr>
            </a:pPr>
            <a:r>
              <a:t>Raw-Leiden runs find more DEGs, finer clusters catch sub-type signal.</a:t>
            </a:r>
          </a:p>
        </p:txBody>
      </p:sp>
      <p:sp>
        <p:nvSpPr>
          <p:cNvPr id="5" name="TextBox 4"/>
          <p:cNvSpPr txBox="1"/>
          <p:nvPr/>
        </p:nvSpPr>
        <p:spPr>
          <a:xfrm>
            <a:off x="548640" y="3840480"/>
            <a:ext cx="11064240" cy="4572000"/>
          </a:xfrm>
          <a:prstGeom prst="rect">
            <a:avLst/>
          </a:prstGeom>
          <a:noFill/>
        </p:spPr>
        <p:txBody>
          <a:bodyPr wrap="square">
            <a:spAutoFit/>
          </a:bodyPr>
          <a:lstStyle/>
          <a:p>
            <a:pPr>
              <a:spcAft>
                <a:spcPts val="800"/>
              </a:spcAft>
            </a:pPr>
            <a:r>
              <a:rPr b="1" sz="1350">
                <a:solidFill>
                  <a:srgbClr val="D62728"/>
                </a:solidFill>
              </a:rPr>
              <a:t>●  The rest of this deck: </a:t>
            </a:r>
            <a:r>
              <a:rPr sz="1350">
                <a:solidFill>
                  <a:srgbClr val="1A1A1A"/>
                </a:solidFill>
              </a:rPr>
              <a:t>shows the full, detailed results for the two named-cell-type groupings (Harmony_named and DRVI_named), one slide per comparison per method.</a:t>
            </a:r>
          </a:p>
          <a:p>
            <a:pPr>
              <a:spcAft>
                <a:spcPts val="800"/>
              </a:spcAft>
            </a:pPr>
            <a:r>
              <a:rPr b="1" sz="1350">
                <a:solidFill>
                  <a:srgbClr val="D62728"/>
                </a:solidFill>
              </a:rPr>
              <a:t>●  Restricted to reliable cell types: </a:t>
            </a:r>
            <a:r>
              <a:rPr sz="1350">
                <a:solidFill>
                  <a:srgbClr val="1A1A1A"/>
                </a:solidFill>
              </a:rPr>
              <a:t>T-cell-CD4/CD8, NK, B-cell, Monocytes-CD14/CD16, Dendritic. Progenitor/Megakaryocytes excluded as untestable (too few cells).</a:t>
            </a:r>
          </a:p>
        </p:txBody>
      </p:sp>
      <p:sp>
        <p:nvSpPr>
          <p:cNvPr id="6" name="TextBox 5"/>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Full per-comparison, per-grouping CSVs in deg_conditions/.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Harmony, named: ACS vs CCS</a:t>
            </a:r>
          </a:p>
          <a:p>
            <a:pPr>
              <a:defRPr sz="1200">
                <a:solidFill>
                  <a:srgbClr val="6B6B6B"/>
                </a:solidFill>
              </a:defRPr>
            </a:pPr>
            <a:r>
              <a:t>351 significant DEGs (padj &lt; 0.05, |log2FC| &gt; 1)</a:t>
            </a:r>
          </a:p>
        </p:txBody>
      </p:sp>
      <p:pic>
        <p:nvPicPr>
          <p:cNvPr id="3" name="Picture 2" descr="volcano_Harmony_named_ACS_vs_CCS.png"/>
          <p:cNvPicPr>
            <a:picLocks noChangeAspect="1"/>
          </p:cNvPicPr>
          <p:nvPr/>
        </p:nvPicPr>
        <p:blipFill>
          <a:blip r:embed="rId2"/>
          <a:stretch>
            <a:fillRect/>
          </a:stretch>
        </p:blipFill>
        <p:spPr>
          <a:xfrm>
            <a:off x="288702" y="1371600"/>
            <a:ext cx="6920674" cy="5029200"/>
          </a:xfrm>
          <a:prstGeom prst="rect">
            <a:avLst/>
          </a:prstGeom>
        </p:spPr>
      </p:pic>
      <p:pic>
        <p:nvPicPr>
          <p:cNvPr id="4" name="Picture 3" descr="heatmap_Harmony_named_ACS_vs_CCS.png"/>
          <p:cNvPicPr>
            <a:picLocks noChangeAspect="1"/>
          </p:cNvPicPr>
          <p:nvPr/>
        </p:nvPicPr>
        <p:blipFill>
          <a:blip r:embed="rId3"/>
          <a:stretch>
            <a:fillRect/>
          </a:stretch>
        </p:blipFill>
        <p:spPr>
          <a:xfrm>
            <a:off x="7315200" y="2229341"/>
            <a:ext cx="4572000" cy="3313716"/>
          </a:xfrm>
          <a:prstGeom prst="rect">
            <a:avLst/>
          </a:prstGeom>
        </p:spPr>
      </p:pic>
      <p:sp>
        <p:nvSpPr>
          <p:cNvPr id="5" name="TextBox 4"/>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Left: volcano per cell type. Right: top DEGs per cell type, log2FC direction.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DRVI, named: ACS vs CCS</a:t>
            </a:r>
          </a:p>
          <a:p>
            <a:pPr>
              <a:defRPr sz="1200">
                <a:solidFill>
                  <a:srgbClr val="6B6B6B"/>
                </a:solidFill>
              </a:defRPr>
            </a:pPr>
            <a:r>
              <a:t>339 significant DEGs (padj &lt; 0.05, |log2FC| &gt; 1)</a:t>
            </a:r>
          </a:p>
        </p:txBody>
      </p:sp>
      <p:pic>
        <p:nvPicPr>
          <p:cNvPr id="3" name="Picture 2" descr="volcano_DRVI_named_ACS_vs_CCS.png"/>
          <p:cNvPicPr>
            <a:picLocks noChangeAspect="1"/>
          </p:cNvPicPr>
          <p:nvPr/>
        </p:nvPicPr>
        <p:blipFill>
          <a:blip r:embed="rId2"/>
          <a:stretch>
            <a:fillRect/>
          </a:stretch>
        </p:blipFill>
        <p:spPr>
          <a:xfrm>
            <a:off x="288702" y="1371600"/>
            <a:ext cx="6920674" cy="5029200"/>
          </a:xfrm>
          <a:prstGeom prst="rect">
            <a:avLst/>
          </a:prstGeom>
        </p:spPr>
      </p:pic>
      <p:pic>
        <p:nvPicPr>
          <p:cNvPr id="4" name="Picture 3" descr="heatmap_DRVI_named_ACS_vs_CCS.png"/>
          <p:cNvPicPr>
            <a:picLocks noChangeAspect="1"/>
          </p:cNvPicPr>
          <p:nvPr/>
        </p:nvPicPr>
        <p:blipFill>
          <a:blip r:embed="rId3"/>
          <a:stretch>
            <a:fillRect/>
          </a:stretch>
        </p:blipFill>
        <p:spPr>
          <a:xfrm>
            <a:off x="7315200" y="2138711"/>
            <a:ext cx="4572000" cy="3494976"/>
          </a:xfrm>
          <a:prstGeom prst="rect">
            <a:avLst/>
          </a:prstGeom>
        </p:spPr>
      </p:pic>
      <p:sp>
        <p:nvSpPr>
          <p:cNvPr id="5" name="TextBox 4"/>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Left: volcano per cell type. Right: top DEGs per cell type, log2FC direction.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Harmony, named: ACS vs non-CCS</a:t>
            </a:r>
          </a:p>
          <a:p>
            <a:pPr>
              <a:defRPr sz="1200">
                <a:solidFill>
                  <a:srgbClr val="6B6B6B"/>
                </a:solidFill>
              </a:defRPr>
            </a:pPr>
            <a:r>
              <a:t>57 significant DEGs (padj &lt; 0.05, |log2FC| &gt; 1)</a:t>
            </a:r>
          </a:p>
        </p:txBody>
      </p:sp>
      <p:pic>
        <p:nvPicPr>
          <p:cNvPr id="3" name="Picture 2" descr="volcano_Harmony_named_ACS_vs_nonCCS.png"/>
          <p:cNvPicPr>
            <a:picLocks noChangeAspect="1"/>
          </p:cNvPicPr>
          <p:nvPr/>
        </p:nvPicPr>
        <p:blipFill>
          <a:blip r:embed="rId2"/>
          <a:stretch>
            <a:fillRect/>
          </a:stretch>
        </p:blipFill>
        <p:spPr>
          <a:xfrm>
            <a:off x="289807" y="1371600"/>
            <a:ext cx="6918464" cy="5029200"/>
          </a:xfrm>
          <a:prstGeom prst="rect">
            <a:avLst/>
          </a:prstGeom>
        </p:spPr>
      </p:pic>
      <p:pic>
        <p:nvPicPr>
          <p:cNvPr id="4" name="Picture 3" descr="heatmap_Harmony_named_ACS_vs_nonCCS.png"/>
          <p:cNvPicPr>
            <a:picLocks noChangeAspect="1"/>
          </p:cNvPicPr>
          <p:nvPr/>
        </p:nvPicPr>
        <p:blipFill>
          <a:blip r:embed="rId3"/>
          <a:stretch>
            <a:fillRect/>
          </a:stretch>
        </p:blipFill>
        <p:spPr>
          <a:xfrm>
            <a:off x="7315200" y="2566521"/>
            <a:ext cx="4572000" cy="2639356"/>
          </a:xfrm>
          <a:prstGeom prst="rect">
            <a:avLst/>
          </a:prstGeom>
        </p:spPr>
      </p:pic>
      <p:sp>
        <p:nvSpPr>
          <p:cNvPr id="5" name="TextBox 4"/>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Left: volcano per cell type. Right: top DEGs per cell type, log2FC direction.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DRVI, named: ACS vs non-CCS</a:t>
            </a:r>
          </a:p>
          <a:p>
            <a:pPr>
              <a:defRPr sz="1200">
                <a:solidFill>
                  <a:srgbClr val="6B6B6B"/>
                </a:solidFill>
              </a:defRPr>
            </a:pPr>
            <a:r>
              <a:t>60 significant DEGs (padj &lt; 0.05, |log2FC| &gt; 1)</a:t>
            </a:r>
          </a:p>
        </p:txBody>
      </p:sp>
      <p:pic>
        <p:nvPicPr>
          <p:cNvPr id="3" name="Picture 2" descr="volcano_DRVI_named_ACS_vs_nonCCS.png"/>
          <p:cNvPicPr>
            <a:picLocks noChangeAspect="1"/>
          </p:cNvPicPr>
          <p:nvPr/>
        </p:nvPicPr>
        <p:blipFill>
          <a:blip r:embed="rId2"/>
          <a:stretch>
            <a:fillRect/>
          </a:stretch>
        </p:blipFill>
        <p:spPr>
          <a:xfrm>
            <a:off x="288702" y="1371600"/>
            <a:ext cx="6920674" cy="5029200"/>
          </a:xfrm>
          <a:prstGeom prst="rect">
            <a:avLst/>
          </a:prstGeom>
        </p:spPr>
      </p:pic>
      <p:pic>
        <p:nvPicPr>
          <p:cNvPr id="4" name="Picture 3" descr="heatmap_DRVI_named_ACS_vs_nonCCS.png"/>
          <p:cNvPicPr>
            <a:picLocks noChangeAspect="1"/>
          </p:cNvPicPr>
          <p:nvPr/>
        </p:nvPicPr>
        <p:blipFill>
          <a:blip r:embed="rId3"/>
          <a:stretch>
            <a:fillRect/>
          </a:stretch>
        </p:blipFill>
        <p:spPr>
          <a:xfrm>
            <a:off x="7315200" y="2587013"/>
            <a:ext cx="4572000" cy="2598372"/>
          </a:xfrm>
          <a:prstGeom prst="rect">
            <a:avLst/>
          </a:prstGeom>
        </p:spPr>
      </p:pic>
      <p:sp>
        <p:nvSpPr>
          <p:cNvPr id="5" name="TextBox 4"/>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Left: volcano per cell type. Right: top DEGs per cell type, log2FC direction.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Harmony, named: Longitudinal (TP1M vs TP4M)</a:t>
            </a:r>
          </a:p>
          <a:p>
            <a:pPr>
              <a:defRPr sz="1200">
                <a:solidFill>
                  <a:srgbClr val="6B6B6B"/>
                </a:solidFill>
              </a:defRPr>
            </a:pPr>
            <a:r>
              <a:t>128 significant DEGs. Paired plot: NK, n=8 paired patients</a:t>
            </a:r>
          </a:p>
        </p:txBody>
      </p:sp>
      <p:pic>
        <p:nvPicPr>
          <p:cNvPr id="3" name="Picture 2" descr="volcano_Harmony_named_ACS_TP1M_vs_TP4M.png"/>
          <p:cNvPicPr>
            <a:picLocks noChangeAspect="1"/>
          </p:cNvPicPr>
          <p:nvPr/>
        </p:nvPicPr>
        <p:blipFill>
          <a:blip r:embed="rId2"/>
          <a:stretch>
            <a:fillRect/>
          </a:stretch>
        </p:blipFill>
        <p:spPr>
          <a:xfrm>
            <a:off x="1209772" y="1371600"/>
            <a:ext cx="4529895" cy="3291840"/>
          </a:xfrm>
          <a:prstGeom prst="rect">
            <a:avLst/>
          </a:prstGeom>
        </p:spPr>
      </p:pic>
      <p:pic>
        <p:nvPicPr>
          <p:cNvPr id="4" name="Picture 3" descr="heatmap_Harmony_named_ACS_TP1M_vs_TP4M.png"/>
          <p:cNvPicPr>
            <a:picLocks noChangeAspect="1"/>
          </p:cNvPicPr>
          <p:nvPr/>
        </p:nvPicPr>
        <p:blipFill>
          <a:blip r:embed="rId3"/>
          <a:stretch>
            <a:fillRect/>
          </a:stretch>
        </p:blipFill>
        <p:spPr>
          <a:xfrm>
            <a:off x="6766560" y="1706922"/>
            <a:ext cx="5120640" cy="2621194"/>
          </a:xfrm>
          <a:prstGeom prst="rect">
            <a:avLst/>
          </a:prstGeom>
        </p:spPr>
      </p:pic>
      <p:pic>
        <p:nvPicPr>
          <p:cNvPr id="5" name="Picture 4" descr="paired_Harmony_named_ACS_TP1M_vs_TP4M.png"/>
          <p:cNvPicPr>
            <a:picLocks noChangeAspect="1"/>
          </p:cNvPicPr>
          <p:nvPr/>
        </p:nvPicPr>
        <p:blipFill>
          <a:blip r:embed="rId4"/>
          <a:stretch>
            <a:fillRect/>
          </a:stretch>
        </p:blipFill>
        <p:spPr>
          <a:xfrm>
            <a:off x="3209074" y="4709160"/>
            <a:ext cx="5743371" cy="1691640"/>
          </a:xfrm>
          <a:prstGeom prst="rect">
            <a:avLst/>
          </a:prstGeom>
        </p:spPr>
      </p:pic>
      <p:sp>
        <p:nvSpPr>
          <p:cNvPr id="6" name="TextBox 5"/>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Bottom: each grey line is one patient, moving from TP1M (acute) to TP4M (pre-discharge).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DRVI, named: Longitudinal (TP1M vs TP4M)</a:t>
            </a:r>
          </a:p>
          <a:p>
            <a:pPr>
              <a:defRPr sz="1200">
                <a:solidFill>
                  <a:srgbClr val="6B6B6B"/>
                </a:solidFill>
              </a:defRPr>
            </a:pPr>
            <a:r>
              <a:t>128 significant DEGs. Paired plot: Monocytes - CD14, n=6 paired patients</a:t>
            </a:r>
          </a:p>
        </p:txBody>
      </p:sp>
      <p:pic>
        <p:nvPicPr>
          <p:cNvPr id="3" name="Picture 2" descr="volcano_DRVI_named_ACS_TP1M_vs_TP4M.png"/>
          <p:cNvPicPr>
            <a:picLocks noChangeAspect="1"/>
          </p:cNvPicPr>
          <p:nvPr/>
        </p:nvPicPr>
        <p:blipFill>
          <a:blip r:embed="rId2"/>
          <a:stretch>
            <a:fillRect/>
          </a:stretch>
        </p:blipFill>
        <p:spPr>
          <a:xfrm>
            <a:off x="1209772" y="1371600"/>
            <a:ext cx="4529895" cy="3291840"/>
          </a:xfrm>
          <a:prstGeom prst="rect">
            <a:avLst/>
          </a:prstGeom>
        </p:spPr>
      </p:pic>
      <p:pic>
        <p:nvPicPr>
          <p:cNvPr id="4" name="Picture 3" descr="heatmap_DRVI_named_ACS_TP1M_vs_TP4M.png"/>
          <p:cNvPicPr>
            <a:picLocks noChangeAspect="1"/>
          </p:cNvPicPr>
          <p:nvPr/>
        </p:nvPicPr>
        <p:blipFill>
          <a:blip r:embed="rId3"/>
          <a:stretch>
            <a:fillRect/>
          </a:stretch>
        </p:blipFill>
        <p:spPr>
          <a:xfrm>
            <a:off x="6766560" y="1706922"/>
            <a:ext cx="5120640" cy="2621194"/>
          </a:xfrm>
          <a:prstGeom prst="rect">
            <a:avLst/>
          </a:prstGeom>
        </p:spPr>
      </p:pic>
      <p:pic>
        <p:nvPicPr>
          <p:cNvPr id="5" name="Picture 4" descr="paired_DRVI_named_ACS_TP1M_vs_TP4M.png"/>
          <p:cNvPicPr>
            <a:picLocks noChangeAspect="1"/>
          </p:cNvPicPr>
          <p:nvPr/>
        </p:nvPicPr>
        <p:blipFill>
          <a:blip r:embed="rId4"/>
          <a:stretch>
            <a:fillRect/>
          </a:stretch>
        </p:blipFill>
        <p:spPr>
          <a:xfrm>
            <a:off x="3209074" y="4709160"/>
            <a:ext cx="5743371" cy="1691640"/>
          </a:xfrm>
          <a:prstGeom prst="rect">
            <a:avLst/>
          </a:prstGeom>
        </p:spPr>
      </p:pic>
      <p:sp>
        <p:nvSpPr>
          <p:cNvPr id="6" name="TextBox 5"/>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Bottom: each grey line is one patient, moving from TP1M (acute) to TP4M (pre-discharge).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Aggregation mode check: sum vs mean</a:t>
            </a:r>
          </a:p>
          <a:p>
            <a:pPr>
              <a:defRPr sz="1200">
                <a:solidFill>
                  <a:srgbClr val="6B6B6B"/>
                </a:solidFill>
              </a:defRPr>
            </a:pPr>
            <a:r>
              <a:t>Same comparison (ACS vs CCS, Harmony, named cell types), only dc.pp.pseudobulk(mode=...) changed</a:t>
            </a:r>
          </a:p>
        </p:txBody>
      </p:sp>
      <p:graphicFrame>
        <p:nvGraphicFramePr>
          <p:cNvPr id="3" name="Table 2"/>
          <p:cNvGraphicFramePr>
            <a:graphicFrameLocks noGrp="1"/>
          </p:cNvGraphicFramePr>
          <p:nvPr/>
        </p:nvGraphicFramePr>
        <p:xfrm>
          <a:off x="1188720" y="1554480"/>
          <a:ext cx="7315200" cy="1645920"/>
        </p:xfrm>
        <a:graphic>
          <a:graphicData uri="http://schemas.openxmlformats.org/drawingml/2006/table">
            <a:tbl>
              <a:tblPr firstRow="1" bandRow="1">
                <a:tableStyleId>{5C22544A-7EE6-4342-B048-85BDC9FD1C3A}</a:tableStyleId>
              </a:tblPr>
              <a:tblGrid>
                <a:gridCol w="2560320"/>
                <a:gridCol w="2377440"/>
                <a:gridCol w="2377440"/>
              </a:tblGrid>
              <a:tr h="548640">
                <a:tc>
                  <a:txBody>
                    <a:bodyPr/>
                    <a:lstStyle/>
                    <a:p>
                      <a:pPr algn="l">
                        <a:defRPr sz="1400" b="1">
                          <a:solidFill>
                            <a:srgbClr val="FFFFFF"/>
                          </a:solidFill>
                        </a:defRPr>
                      </a:pPr>
                      <a:r>
                        <a:t>Mode</a:t>
                      </a:r>
                    </a:p>
                  </a:txBody>
                  <a:tcPr anchor="ctr" marL="73152" marR="73152" marT="27432" marB="27432">
                    <a:solidFill>
                      <a:srgbClr val="D62728"/>
                    </a:solidFill>
                  </a:tcPr>
                </a:tc>
                <a:tc>
                  <a:txBody>
                    <a:bodyPr/>
                    <a:lstStyle/>
                    <a:p>
                      <a:pPr algn="ctr">
                        <a:defRPr sz="1400" b="1">
                          <a:solidFill>
                            <a:srgbClr val="FFFFFF"/>
                          </a:solidFill>
                        </a:defRPr>
                      </a:pPr>
                      <a:r>
                        <a:t>Genes tested (Monocytes-CD14)</a:t>
                      </a:r>
                    </a:p>
                  </a:txBody>
                  <a:tcPr anchor="ctr" marL="73152" marR="73152" marT="27432" marB="27432">
                    <a:solidFill>
                      <a:srgbClr val="D62728"/>
                    </a:solidFill>
                  </a:tcPr>
                </a:tc>
                <a:tc>
                  <a:txBody>
                    <a:bodyPr/>
                    <a:lstStyle/>
                    <a:p>
                      <a:pPr algn="ctr">
                        <a:defRPr sz="1400" b="1">
                          <a:solidFill>
                            <a:srgbClr val="FFFFFF"/>
                          </a:solidFill>
                        </a:defRPr>
                      </a:pPr>
                      <a:r>
                        <a:t>Significant DEGs (total)</a:t>
                      </a:r>
                    </a:p>
                  </a:txBody>
                  <a:tcPr anchor="ctr" marL="73152" marR="73152" marT="27432" marB="27432">
                    <a:solidFill>
                      <a:srgbClr val="D62728"/>
                    </a:solidFill>
                  </a:tcPr>
                </a:tc>
              </a:tr>
              <a:tr h="548640">
                <a:tc>
                  <a:txBody>
                    <a:bodyPr/>
                    <a:lstStyle/>
                    <a:p>
                      <a:pPr algn="l">
                        <a:defRPr sz="1400" b="0">
                          <a:solidFill>
                            <a:srgbClr val="1A1A1A"/>
                          </a:solidFill>
                        </a:defRPr>
                      </a:pPr>
                      <a:r>
                        <a:t>sum (used throughout)</a:t>
                      </a:r>
                    </a:p>
                  </a:txBody>
                  <a:tcPr anchor="ctr" marL="73152" marR="73152" marT="27432" marB="27432">
                    <a:solidFill>
                      <a:srgbClr val="FFFFFF"/>
                    </a:solidFill>
                  </a:tcPr>
                </a:tc>
                <a:tc>
                  <a:txBody>
                    <a:bodyPr/>
                    <a:lstStyle/>
                    <a:p>
                      <a:pPr algn="ctr">
                        <a:defRPr sz="1400" b="0">
                          <a:solidFill>
                            <a:srgbClr val="1A1A1A"/>
                          </a:solidFill>
                        </a:defRPr>
                      </a:pPr>
                      <a:r>
                        <a:t>7,485</a:t>
                      </a:r>
                    </a:p>
                  </a:txBody>
                  <a:tcPr anchor="ctr" marL="73152" marR="73152" marT="27432" marB="27432">
                    <a:solidFill>
                      <a:srgbClr val="FFFFFF"/>
                    </a:solidFill>
                  </a:tcPr>
                </a:tc>
                <a:tc>
                  <a:txBody>
                    <a:bodyPr/>
                    <a:lstStyle/>
                    <a:p>
                      <a:pPr algn="ctr">
                        <a:defRPr sz="1400" b="0">
                          <a:solidFill>
                            <a:srgbClr val="1A1A1A"/>
                          </a:solidFill>
                        </a:defRPr>
                      </a:pPr>
                      <a:r>
                        <a:t>351</a:t>
                      </a:r>
                    </a:p>
                  </a:txBody>
                  <a:tcPr anchor="ctr" marL="73152" marR="73152" marT="27432" marB="27432">
                    <a:solidFill>
                      <a:srgbClr val="FFFFFF"/>
                    </a:solidFill>
                  </a:tcPr>
                </a:tc>
              </a:tr>
              <a:tr h="548640">
                <a:tc>
                  <a:txBody>
                    <a:bodyPr/>
                    <a:lstStyle/>
                    <a:p>
                      <a:pPr algn="l">
                        <a:defRPr sz="1400" b="0">
                          <a:solidFill>
                            <a:srgbClr val="1A1A1A"/>
                          </a:solidFill>
                        </a:defRPr>
                      </a:pPr>
                      <a:r>
                        <a:t>mean</a:t>
                      </a:r>
                    </a:p>
                  </a:txBody>
                  <a:tcPr anchor="ctr" marL="73152" marR="73152" marT="27432" marB="27432">
                    <a:solidFill>
                      <a:srgbClr val="FFFFFF"/>
                    </a:solidFill>
                  </a:tcPr>
                </a:tc>
                <a:tc>
                  <a:txBody>
                    <a:bodyPr/>
                    <a:lstStyle/>
                    <a:p>
                      <a:pPr algn="ctr">
                        <a:defRPr sz="1400" b="0">
                          <a:solidFill>
                            <a:srgbClr val="1A1A1A"/>
                          </a:solidFill>
                        </a:defRPr>
                      </a:pPr>
                      <a:r>
                        <a:t>133</a:t>
                      </a:r>
                    </a:p>
                  </a:txBody>
                  <a:tcPr anchor="ctr" marL="73152" marR="73152" marT="27432" marB="27432">
                    <a:solidFill>
                      <a:srgbClr val="FFFFFF"/>
                    </a:solidFill>
                  </a:tcPr>
                </a:tc>
                <a:tc>
                  <a:txBody>
                    <a:bodyPr/>
                    <a:lstStyle/>
                    <a:p>
                      <a:pPr algn="ctr">
                        <a:defRPr sz="1400" b="0">
                          <a:solidFill>
                            <a:srgbClr val="1A1A1A"/>
                          </a:solidFill>
                        </a:defRPr>
                      </a:pPr>
                      <a:r>
                        <a:t>0</a:t>
                      </a:r>
                    </a:p>
                  </a:txBody>
                  <a:tcPr anchor="ctr" marL="73152" marR="73152" marT="27432" marB="27432">
                    <a:solidFill>
                      <a:srgbClr val="FFFFFF"/>
                    </a:solidFill>
                  </a:tcPr>
                </a:tc>
              </a:tr>
            </a:tbl>
          </a:graphicData>
        </a:graphic>
      </p:graphicFrame>
      <p:sp>
        <p:nvSpPr>
          <p:cNvPr id="4" name="TextBox 3"/>
          <p:cNvSpPr txBox="1"/>
          <p:nvPr/>
        </p:nvSpPr>
        <p:spPr>
          <a:xfrm>
            <a:off x="548640" y="3474720"/>
            <a:ext cx="11064240" cy="4572000"/>
          </a:xfrm>
          <a:prstGeom prst="rect">
            <a:avLst/>
          </a:prstGeom>
          <a:noFill/>
        </p:spPr>
        <p:txBody>
          <a:bodyPr wrap="square">
            <a:spAutoFit/>
          </a:bodyPr>
          <a:lstStyle/>
          <a:p>
            <a:pPr>
              <a:spcAft>
                <a:spcPts val="1000"/>
              </a:spcAft>
            </a:pPr>
            <a:r>
              <a:rPr b="1" sz="1450">
                <a:solidFill>
                  <a:srgbClr val="D62728"/>
                </a:solidFill>
              </a:rPr>
              <a:t>●  Why the difference: </a:t>
            </a:r>
            <a:r>
              <a:rPr sz="1450">
                <a:solidFill>
                  <a:srgbClr val="1A1A1A"/>
                </a:solidFill>
              </a:rPr>
              <a:t>DESeq2 models raw counts with a negative-binomial distribution and needs count-scale magnitudes for size-factor and dispersion estimation.</a:t>
            </a:r>
          </a:p>
          <a:p>
            <a:pPr>
              <a:spcAft>
                <a:spcPts val="1000"/>
              </a:spcAft>
            </a:pPr>
            <a:r>
              <a:rPr b="1" sz="1450">
                <a:solidFill>
                  <a:srgbClr val="D62728"/>
                </a:solidFill>
              </a:rPr>
              <a:t>●  Mean pseudobulk breaks this: </a:t>
            </a:r>
            <a:r>
              <a:rPr sz="1450">
                <a:solidFill>
                  <a:srgbClr val="1A1A1A"/>
                </a:solidFill>
              </a:rPr>
              <a:t>averaging across hundreds of cells produces small fractions (e.g. 0.2 instead of 9). After rounding to integers for DESeq2, almost all signal is lost.</a:t>
            </a:r>
          </a:p>
          <a:p>
            <a:pPr>
              <a:spcAft>
                <a:spcPts val="1000"/>
              </a:spcAft>
            </a:pPr>
            <a:r>
              <a:rPr b="1" sz="1450">
                <a:solidFill>
                  <a:srgbClr val="D62728"/>
                </a:solidFill>
              </a:rPr>
              <a:t>●  Conclusion: </a:t>
            </a:r>
            <a:r>
              <a:rPr sz="1450">
                <a:solidFill>
                  <a:srgbClr val="1A1A1A"/>
                </a:solidFill>
              </a:rPr>
              <a:t>sum is the statistically appropriate aggregation for DESeq2-based DEG testing, matching the tutorial's own choice throughout (mode="sum", never mean).</a:t>
            </a:r>
          </a:p>
        </p:txBody>
      </p:sp>
      <p:sp>
        <p:nvSpPr>
          <p:cNvPr id="5" name="TextBox 4"/>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Checked directly as a sanity check per instructions to try both aggregation modes.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960120"/>
          </a:xfrm>
          <a:prstGeom prst="rect">
            <a:avLst/>
          </a:prstGeom>
          <a:noFill/>
        </p:spPr>
        <p:txBody>
          <a:bodyPr wrap="square">
            <a:spAutoFit/>
          </a:bodyPr>
          <a:lstStyle/>
          <a:p>
            <a:pPr>
              <a:defRPr sz="2800" b="1">
                <a:solidFill>
                  <a:srgbClr val="1A1A1A"/>
                </a:solidFill>
              </a:defRPr>
            </a:pPr>
            <a:r>
              <a:t>From gene lists to biology: pathway enrichment</a:t>
            </a:r>
          </a:p>
          <a:p>
            <a:pPr>
              <a:defRPr sz="1200">
                <a:solidFill>
                  <a:srgbClr val="6B6B6B"/>
                </a:solidFill>
              </a:defRPr>
            </a:pPr>
            <a:r>
              <a:t>Hallmark gene sets (MSigDB), over-representation analysis (dc.mt.ora) on significant DEGs. ACS vs CCS, Harmony named types</a:t>
            </a:r>
          </a:p>
        </p:txBody>
      </p:sp>
      <p:pic>
        <p:nvPicPr>
          <p:cNvPr id="3" name="Picture 2" descr="enrichment_Harmony_named_Monocytes-CD14_ACS_vs_CCS.png"/>
          <p:cNvPicPr>
            <a:picLocks noChangeAspect="1"/>
          </p:cNvPicPr>
          <p:nvPr/>
        </p:nvPicPr>
        <p:blipFill>
          <a:blip r:embed="rId2"/>
          <a:stretch>
            <a:fillRect/>
          </a:stretch>
        </p:blipFill>
        <p:spPr>
          <a:xfrm>
            <a:off x="365760" y="1371600"/>
            <a:ext cx="5669280" cy="3263184"/>
          </a:xfrm>
          <a:prstGeom prst="rect">
            <a:avLst/>
          </a:prstGeom>
        </p:spPr>
      </p:pic>
      <p:pic>
        <p:nvPicPr>
          <p:cNvPr id="4" name="Picture 3" descr="enrichment_Harmony_named_NK_ACS_vs_CCS.png"/>
          <p:cNvPicPr>
            <a:picLocks noChangeAspect="1"/>
          </p:cNvPicPr>
          <p:nvPr/>
        </p:nvPicPr>
        <p:blipFill>
          <a:blip r:embed="rId3"/>
          <a:stretch>
            <a:fillRect/>
          </a:stretch>
        </p:blipFill>
        <p:spPr>
          <a:xfrm>
            <a:off x="6172200" y="1371600"/>
            <a:ext cx="5669280" cy="3494303"/>
          </a:xfrm>
          <a:prstGeom prst="rect">
            <a:avLst/>
          </a:prstGeom>
        </p:spPr>
      </p:pic>
      <p:sp>
        <p:nvSpPr>
          <p:cNvPr id="5" name="TextBox 4"/>
          <p:cNvSpPr txBox="1"/>
          <p:nvPr/>
        </p:nvSpPr>
        <p:spPr>
          <a:xfrm>
            <a:off x="365760" y="1051560"/>
            <a:ext cx="5669280" cy="320040"/>
          </a:xfrm>
          <a:prstGeom prst="rect">
            <a:avLst/>
          </a:prstGeom>
          <a:noFill/>
        </p:spPr>
        <p:txBody>
          <a:bodyPr wrap="none">
            <a:spAutoFit/>
          </a:bodyPr>
          <a:lstStyle/>
          <a:p>
            <a:pPr>
              <a:defRPr b="1" sz="1300">
                <a:solidFill>
                  <a:srgbClr val="D62728"/>
                </a:solidFill>
              </a:defRPr>
            </a:pPr>
            <a:r>
              <a:t>Monocytes-CD14: 176 significant genes</a:t>
            </a:r>
          </a:p>
        </p:txBody>
      </p:sp>
      <p:sp>
        <p:nvSpPr>
          <p:cNvPr id="6" name="TextBox 5"/>
          <p:cNvSpPr txBox="1"/>
          <p:nvPr/>
        </p:nvSpPr>
        <p:spPr>
          <a:xfrm>
            <a:off x="6172200" y="1051560"/>
            <a:ext cx="5669280" cy="320040"/>
          </a:xfrm>
          <a:prstGeom prst="rect">
            <a:avLst/>
          </a:prstGeom>
          <a:noFill/>
        </p:spPr>
        <p:txBody>
          <a:bodyPr wrap="none">
            <a:spAutoFit/>
          </a:bodyPr>
          <a:lstStyle/>
          <a:p>
            <a:pPr>
              <a:defRPr b="1" sz="1300">
                <a:solidFill>
                  <a:srgbClr val="D62728"/>
                </a:solidFill>
              </a:defRPr>
            </a:pPr>
            <a:r>
              <a:t>NK cells: 35 significant genes</a:t>
            </a:r>
          </a:p>
        </p:txBody>
      </p:sp>
      <p:sp>
        <p:nvSpPr>
          <p:cNvPr id="7" name="TextBox 6"/>
          <p:cNvSpPr txBox="1"/>
          <p:nvPr/>
        </p:nvSpPr>
        <p:spPr>
          <a:xfrm>
            <a:off x="457200" y="6473952"/>
            <a:ext cx="11247120" cy="320040"/>
          </a:xfrm>
          <a:prstGeom prst="rect">
            <a:avLst/>
          </a:prstGeom>
          <a:noFill/>
        </p:spPr>
        <p:txBody>
          <a:bodyPr wrap="none">
            <a:spAutoFit/>
          </a:bodyPr>
          <a:lstStyle/>
          <a:p>
            <a:pPr>
              <a:defRPr sz="950" i="1">
                <a:solidFill>
                  <a:srgbClr val="6B6B6B"/>
                </a:solidFill>
              </a:defRPr>
            </a:pPr>
            <a:r>
              <a:t>TNF-alpha signaling and interferon response dominate in both cell types, a coherent acute-inflammation signature, not just a list of gene symbols.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